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93" r:id="rId1"/>
  </p:sldMasterIdLst>
  <p:notesMasterIdLst>
    <p:notesMasterId r:id="rId54"/>
  </p:notesMasterIdLst>
  <p:sldIdLst>
    <p:sldId id="256" r:id="rId2"/>
    <p:sldId id="267" r:id="rId3"/>
    <p:sldId id="258" r:id="rId4"/>
    <p:sldId id="273" r:id="rId5"/>
    <p:sldId id="334" r:id="rId6"/>
    <p:sldId id="274" r:id="rId7"/>
    <p:sldId id="297" r:id="rId8"/>
    <p:sldId id="275" r:id="rId9"/>
    <p:sldId id="277" r:id="rId10"/>
    <p:sldId id="276" r:id="rId11"/>
    <p:sldId id="278" r:id="rId12"/>
    <p:sldId id="279" r:id="rId13"/>
    <p:sldId id="281" r:id="rId14"/>
    <p:sldId id="287" r:id="rId15"/>
    <p:sldId id="289" r:id="rId16"/>
    <p:sldId id="284" r:id="rId17"/>
    <p:sldId id="329" r:id="rId18"/>
    <p:sldId id="285" r:id="rId19"/>
    <p:sldId id="286" r:id="rId20"/>
    <p:sldId id="330" r:id="rId21"/>
    <p:sldId id="332" r:id="rId22"/>
    <p:sldId id="295" r:id="rId23"/>
    <p:sldId id="296" r:id="rId24"/>
    <p:sldId id="333" r:id="rId25"/>
    <p:sldId id="298" r:id="rId26"/>
    <p:sldId id="328" r:id="rId27"/>
    <p:sldId id="302" r:id="rId28"/>
    <p:sldId id="303" r:id="rId29"/>
    <p:sldId id="301" r:id="rId30"/>
    <p:sldId id="300" r:id="rId31"/>
    <p:sldId id="304" r:id="rId32"/>
    <p:sldId id="305" r:id="rId33"/>
    <p:sldId id="306" r:id="rId34"/>
    <p:sldId id="307" r:id="rId35"/>
    <p:sldId id="311" r:id="rId36"/>
    <p:sldId id="308" r:id="rId37"/>
    <p:sldId id="314" r:id="rId38"/>
    <p:sldId id="312" r:id="rId39"/>
    <p:sldId id="316" r:id="rId40"/>
    <p:sldId id="317" r:id="rId41"/>
    <p:sldId id="315" r:id="rId42"/>
    <p:sldId id="318" r:id="rId43"/>
    <p:sldId id="319" r:id="rId44"/>
    <p:sldId id="320" r:id="rId45"/>
    <p:sldId id="321" r:id="rId46"/>
    <p:sldId id="322" r:id="rId47"/>
    <p:sldId id="323" r:id="rId48"/>
    <p:sldId id="324" r:id="rId49"/>
    <p:sldId id="326" r:id="rId50"/>
    <p:sldId id="293" r:id="rId51"/>
    <p:sldId id="299" r:id="rId52"/>
    <p:sldId id="335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tteo Francia" initials="MF" lastIdx="2" clrIdx="0">
    <p:extLst>
      <p:ext uri="{19B8F6BF-5375-455C-9EA6-DF929625EA0E}">
        <p15:presenceInfo xmlns:p15="http://schemas.microsoft.com/office/powerpoint/2012/main" userId="S-1-5-21-2162351890-1506888927-3107636301-1352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230"/>
    <a:srgbClr val="D4EEF9"/>
    <a:srgbClr val="E1E1DB"/>
    <a:srgbClr val="6ED7FC"/>
    <a:srgbClr val="DEFF93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71" autoAdjust="0"/>
    <p:restoredTop sz="79379" autoAdjust="0"/>
  </p:normalViewPr>
  <p:slideViewPr>
    <p:cSldViewPr snapToGrid="0">
      <p:cViewPr varScale="1">
        <p:scale>
          <a:sx n="89" d="100"/>
          <a:sy n="89" d="100"/>
        </p:scale>
        <p:origin x="2196" y="96"/>
      </p:cViewPr>
      <p:guideLst/>
    </p:cSldViewPr>
  </p:slideViewPr>
  <p:outlineViewPr>
    <p:cViewPr>
      <p:scale>
        <a:sx n="33" d="100"/>
        <a:sy n="33" d="100"/>
      </p:scale>
      <p:origin x="0" y="-161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80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1D565-392B-4AB9-9647-420EF17AA3FC}" type="datetimeFigureOut">
              <a:rPr lang="it-IT" smtClean="0"/>
              <a:t>24/02/2025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8CEA09-33FA-4F6C-9D30-5FB0AA0E11C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51584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it-IT" baseline="0" dirty="0"/>
              <a:t>NOTE:</a:t>
            </a:r>
          </a:p>
          <a:p>
            <a:pPr marL="0" indent="0">
              <a:buFontTx/>
              <a:buNone/>
            </a:pPr>
            <a:r>
              <a:rPr lang="it-IT" baseline="0"/>
              <a:t>- Ricordarsi </a:t>
            </a:r>
            <a:r>
              <a:rPr lang="it-IT" baseline="0" dirty="0"/>
              <a:t>di verificare il contenuto dei file quando si fanno gli esercizi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3148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3716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Rispetto al mondo relazionale, mancano join e transazioni</a:t>
            </a:r>
          </a:p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4487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integrated</a:t>
            </a:r>
            <a:r>
              <a:rPr lang="en-US" baseline="0" dirty="0"/>
              <a:t> multi-dc search with </a:t>
            </a:r>
            <a:r>
              <a:rPr lang="en-US" baseline="0" dirty="0" err="1"/>
              <a:t>lucene</a:t>
            </a:r>
            <a:r>
              <a:rPr lang="en-US" baseline="0" dirty="0"/>
              <a:t> near </a:t>
            </a:r>
            <a:r>
              <a:rPr lang="en-US" baseline="0" dirty="0" err="1"/>
              <a:t>realtime</a:t>
            </a:r>
            <a:endParaRPr lang="en-US" baseline="0" dirty="0"/>
          </a:p>
          <a:p>
            <a:r>
              <a:rPr lang="en-US" dirty="0"/>
              <a:t>integrated spark and </a:t>
            </a:r>
            <a:r>
              <a:rPr lang="en-US" dirty="0" err="1"/>
              <a:t>hadoop</a:t>
            </a:r>
            <a:endParaRPr lang="en-US" dirty="0"/>
          </a:p>
          <a:p>
            <a:r>
              <a:rPr lang="en-US" dirty="0"/>
              <a:t>support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76960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integrated</a:t>
            </a:r>
            <a:r>
              <a:rPr lang="en-US" baseline="0" dirty="0"/>
              <a:t> multi-dc search with </a:t>
            </a:r>
            <a:r>
              <a:rPr lang="en-US" baseline="0" dirty="0" err="1"/>
              <a:t>lucene</a:t>
            </a:r>
            <a:r>
              <a:rPr lang="en-US" baseline="0" dirty="0"/>
              <a:t> near </a:t>
            </a:r>
            <a:r>
              <a:rPr lang="en-US" baseline="0" dirty="0" err="1"/>
              <a:t>realtime</a:t>
            </a:r>
            <a:endParaRPr lang="en-US" baseline="0" dirty="0"/>
          </a:p>
          <a:p>
            <a:r>
              <a:rPr lang="en-US" dirty="0"/>
              <a:t>integrated spark and </a:t>
            </a:r>
            <a:r>
              <a:rPr lang="en-US" dirty="0" err="1"/>
              <a:t>hadoop</a:t>
            </a:r>
            <a:endParaRPr lang="en-US" dirty="0"/>
          </a:p>
          <a:p>
            <a:r>
              <a:rPr lang="en-US" dirty="0"/>
              <a:t>support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48531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32491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14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043917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Di default ordine ASC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22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35177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Punto di partenza: ho un file </a:t>
            </a:r>
            <a:r>
              <a:rPr lang="it-IT" dirty="0" err="1"/>
              <a:t>csv</a:t>
            </a:r>
            <a:r>
              <a:rPr lang="it-IT" dirty="0"/>
              <a:t> con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25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49314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Punto di partenza: ho un file </a:t>
            </a:r>
            <a:r>
              <a:rPr lang="it-IT" dirty="0" err="1"/>
              <a:t>csv</a:t>
            </a:r>
            <a:r>
              <a:rPr lang="it-IT" dirty="0"/>
              <a:t> con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26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632390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TABLE</a:t>
            </a:r>
            <a:r>
              <a:rPr lang="en-US" baseline="0" dirty="0"/>
              <a:t> -&gt; </a:t>
            </a:r>
            <a:r>
              <a:rPr lang="en-US" baseline="0" dirty="0" err="1"/>
              <a:t>notare</a:t>
            </a:r>
            <a:r>
              <a:rPr lang="en-US" baseline="0" dirty="0"/>
              <a:t> </a:t>
            </a:r>
            <a:r>
              <a:rPr lang="en-US" baseline="0" dirty="0" err="1"/>
              <a:t>l'ordine</a:t>
            </a:r>
            <a:r>
              <a:rPr lang="en-US" baseline="0" dirty="0"/>
              <a:t> </a:t>
            </a:r>
            <a:r>
              <a:rPr lang="en-US" baseline="0" dirty="0" err="1"/>
              <a:t>delle</a:t>
            </a:r>
            <a:r>
              <a:rPr lang="en-US" baseline="0" dirty="0"/>
              <a:t> </a:t>
            </a:r>
            <a:r>
              <a:rPr lang="en-US" baseline="0" dirty="0" err="1"/>
              <a:t>colonne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27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283177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TABLE</a:t>
            </a:r>
            <a:r>
              <a:rPr lang="en-US" baseline="0" dirty="0"/>
              <a:t> -&gt; </a:t>
            </a:r>
            <a:r>
              <a:rPr lang="en-US" baseline="0" dirty="0" err="1"/>
              <a:t>notare</a:t>
            </a:r>
            <a:r>
              <a:rPr lang="en-US" baseline="0" dirty="0"/>
              <a:t> </a:t>
            </a:r>
            <a:r>
              <a:rPr lang="en-US" baseline="0" dirty="0" err="1"/>
              <a:t>l'ordine</a:t>
            </a:r>
            <a:r>
              <a:rPr lang="en-US" baseline="0" dirty="0"/>
              <a:t> </a:t>
            </a:r>
            <a:r>
              <a:rPr lang="en-US" baseline="0" dirty="0" err="1"/>
              <a:t>delle</a:t>
            </a:r>
            <a:r>
              <a:rPr lang="en-US" baseline="0" dirty="0"/>
              <a:t> </a:t>
            </a:r>
            <a:r>
              <a:rPr lang="en-US" baseline="0" dirty="0" err="1"/>
              <a:t>colonne</a:t>
            </a:r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(</a:t>
            </a:r>
            <a:r>
              <a:rPr lang="en-US" baseline="0" dirty="0" err="1"/>
              <a:t>perchè</a:t>
            </a:r>
            <a:r>
              <a:rPr lang="en-US" baseline="0" dirty="0"/>
              <a:t> TAG come </a:t>
            </a:r>
            <a:r>
              <a:rPr lang="en-US" baseline="0" dirty="0" err="1"/>
              <a:t>partizionamento</a:t>
            </a:r>
            <a:r>
              <a:rPr lang="en-US" baseline="0" dirty="0"/>
              <a:t> e non </a:t>
            </a:r>
            <a:r>
              <a:rPr lang="en-US" baseline="0" dirty="0" err="1"/>
              <a:t>anche</a:t>
            </a:r>
            <a:r>
              <a:rPr lang="en-US" baseline="0" dirty="0"/>
              <a:t> </a:t>
            </a:r>
            <a:r>
              <a:rPr lang="en-US" baseline="0" dirty="0" err="1"/>
              <a:t>video_id</a:t>
            </a:r>
            <a:r>
              <a:rPr lang="en-US" baseline="0" dirty="0"/>
              <a:t>? </a:t>
            </a:r>
            <a:r>
              <a:rPr lang="en-US" baseline="0" dirty="0" err="1"/>
              <a:t>Video_id</a:t>
            </a:r>
            <a:r>
              <a:rPr lang="en-US" baseline="0" dirty="0"/>
              <a:t> poi </a:t>
            </a:r>
            <a:r>
              <a:rPr lang="en-US" baseline="0" dirty="0" err="1"/>
              <a:t>crea</a:t>
            </a:r>
            <a:r>
              <a:rPr lang="en-US" baseline="0" dirty="0"/>
              <a:t> </a:t>
            </a:r>
            <a:r>
              <a:rPr lang="en-US" baseline="0" dirty="0" err="1"/>
              <a:t>gruppi</a:t>
            </a:r>
            <a:r>
              <a:rPr lang="en-US" baseline="0" dirty="0"/>
              <a:t> </a:t>
            </a:r>
            <a:r>
              <a:rPr lang="en-US" baseline="0" dirty="0" err="1"/>
              <a:t>più</a:t>
            </a:r>
            <a:r>
              <a:rPr lang="en-US" baseline="0" dirty="0"/>
              <a:t> </a:t>
            </a:r>
            <a:r>
              <a:rPr lang="en-US" baseline="0" dirty="0" err="1"/>
              <a:t>piccoli</a:t>
            </a:r>
            <a:r>
              <a:rPr lang="en-US" baseline="0" dirty="0"/>
              <a:t>..)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28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9411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La penultima non va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29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208126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Attenzione</a:t>
            </a:r>
            <a:r>
              <a:rPr lang="en-US" dirty="0"/>
              <a:t>!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corso</a:t>
            </a:r>
            <a:r>
              <a:rPr lang="en-US" dirty="0"/>
              <a:t> di </a:t>
            </a:r>
            <a:r>
              <a:rPr lang="en-US" dirty="0" err="1"/>
              <a:t>riferimento</a:t>
            </a:r>
            <a:r>
              <a:rPr lang="en-US" dirty="0"/>
              <a:t> (DS220)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detta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cosa</a:t>
            </a:r>
            <a:r>
              <a:rPr lang="en-US" dirty="0"/>
              <a:t> </a:t>
            </a:r>
            <a:r>
              <a:rPr lang="en-US" dirty="0" err="1"/>
              <a:t>profondamente</a:t>
            </a:r>
            <a:r>
              <a:rPr lang="en-US" dirty="0"/>
              <a:t> </a:t>
            </a:r>
            <a:r>
              <a:rPr lang="en-US" dirty="0" err="1"/>
              <a:t>sbagliata</a:t>
            </a:r>
            <a:r>
              <a:rPr lang="en-US" dirty="0"/>
              <a:t>, </a:t>
            </a:r>
            <a:r>
              <a:rPr lang="en-US" dirty="0" err="1"/>
              <a:t>ossia</a:t>
            </a:r>
            <a:r>
              <a:rPr lang="en-US" baseline="0" dirty="0"/>
              <a:t> </a:t>
            </a:r>
            <a:r>
              <a:rPr lang="en-US" baseline="0" dirty="0" err="1"/>
              <a:t>che</a:t>
            </a:r>
            <a:r>
              <a:rPr lang="en-US" baseline="0" dirty="0"/>
              <a:t> </a:t>
            </a:r>
            <a:r>
              <a:rPr lang="en-US" baseline="0" dirty="0" err="1"/>
              <a:t>il</a:t>
            </a:r>
            <a:r>
              <a:rPr lang="en-US" baseline="0" dirty="0"/>
              <a:t> DBMS prima fa </a:t>
            </a:r>
            <a:r>
              <a:rPr lang="en-US" baseline="0" dirty="0" err="1"/>
              <a:t>il</a:t>
            </a:r>
            <a:r>
              <a:rPr lang="en-US" baseline="0" dirty="0"/>
              <a:t> join, poi </a:t>
            </a:r>
            <a:r>
              <a:rPr lang="en-US" baseline="0" dirty="0" err="1"/>
              <a:t>il</a:t>
            </a:r>
            <a:r>
              <a:rPr lang="en-US" baseline="0" dirty="0"/>
              <a:t> </a:t>
            </a:r>
            <a:r>
              <a:rPr lang="en-US" baseline="0" dirty="0" err="1"/>
              <a:t>filtro</a:t>
            </a:r>
            <a:r>
              <a:rPr lang="en-US" baseline="0" dirty="0"/>
              <a:t>. </a:t>
            </a:r>
            <a:endParaRPr lang="en-US" dirty="0"/>
          </a:p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43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72232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Video id non è in chiave per non </a:t>
            </a:r>
            <a:r>
              <a:rPr lang="it-IT"/>
              <a:t>essere ridondanti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45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189596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Oltre alla granularità del video, attenzione al personaggio (</a:t>
            </a:r>
            <a:r>
              <a:rPr lang="it-IT" dirty="0" err="1"/>
              <a:t>character_name</a:t>
            </a:r>
            <a:r>
              <a:rPr lang="it-IT" dirty="0"/>
              <a:t>)</a:t>
            </a:r>
          </a:p>
          <a:p>
            <a:endParaRPr lang="it-IT" dirty="0"/>
          </a:p>
          <a:p>
            <a:r>
              <a:rPr lang="it-IT" dirty="0"/>
              <a:t>Clustering </a:t>
            </a:r>
            <a:r>
              <a:rPr lang="it-IT" dirty="0" err="1"/>
              <a:t>order</a:t>
            </a:r>
            <a:r>
              <a:rPr lang="it-IT" dirty="0"/>
              <a:t> by </a:t>
            </a:r>
            <a:r>
              <a:rPr lang="it-IT" dirty="0" err="1"/>
              <a:t>added_date</a:t>
            </a:r>
            <a:r>
              <a:rPr lang="it-IT" dirty="0"/>
              <a:t> </a:t>
            </a:r>
            <a:r>
              <a:rPr lang="it-IT" dirty="0" err="1"/>
              <a:t>desc</a:t>
            </a:r>
            <a:endParaRPr lang="it-IT" dirty="0"/>
          </a:p>
          <a:p>
            <a:endParaRPr lang="it-IT" dirty="0"/>
          </a:p>
          <a:p>
            <a:r>
              <a:rPr lang="it-IT" dirty="0"/>
              <a:t>Ridefinire </a:t>
            </a:r>
            <a:r>
              <a:rPr lang="it-IT" dirty="0" err="1"/>
              <a:t>type</a:t>
            </a:r>
            <a:r>
              <a:rPr lang="it-IT" dirty="0"/>
              <a:t> video </a:t>
            </a:r>
            <a:r>
              <a:rPr lang="it-IT" dirty="0" err="1"/>
              <a:t>encoding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48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697199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51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425895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52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20946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61730-2F0F-4B55-83F4-33856D80FFD7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682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F7768-7A83-43C9-9C3D-95CD5F68D7E2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344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D30C4-1715-4BC2-976F-EF7BA4DC70B4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7883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CF10C-564E-48D4-BE3A-05BB93A7F107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494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B9DB-33AD-46E7-ADFD-C52815BFEA09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1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2824-932F-46A1-8D0D-D52979BEE663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048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33CB2-1968-4F08-9AB4-83693145DE18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150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F8F6D7E5-1322-4764-A2E4-7B71FFFDE726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903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dirty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0A1A-929F-4DC6-9A8A-74A15252C912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248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035D6-F845-4530-B289-DD4EC9CAE501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865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DE46-844C-40F1-AAA7-78AD6518D44C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25339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DD3DE46-844C-40F1-AAA7-78AD6518D44C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439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cassandra.apache.org/download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cademy.datastax.com/courses" TargetMode="External"/><Relationship Id="rId2" Type="http://schemas.openxmlformats.org/officeDocument/2006/relationships/hyperlink" Target="https://academy.datastax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ortal.datastax.com/downloads.php?dsedownload=tar/enterprise/sandbox/DataStax_Sandbox.ova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3.amazonaws.com/datastaxtraining/VM/DS220-vm-Jul2015.zip" TargetMode="External"/><Relationship Id="rId2" Type="http://schemas.openxmlformats.org/officeDocument/2006/relationships/hyperlink" Target="https://academy.datastax.com/resources/ds220-data-modeling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822960" y="3001557"/>
            <a:ext cx="7543800" cy="1099527"/>
          </a:xfrm>
        </p:spPr>
        <p:txBody>
          <a:bodyPr>
            <a:normAutofit fontScale="90000"/>
          </a:bodyPr>
          <a:lstStyle/>
          <a:p>
            <a:pPr algn="ctr"/>
            <a:r>
              <a:rPr lang="it-IT" noProof="0" dirty="0"/>
              <a:t>Apache Cassandra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822960" y="4452723"/>
            <a:ext cx="7543800" cy="296006"/>
          </a:xfrm>
        </p:spPr>
        <p:txBody>
          <a:bodyPr>
            <a:normAutofit fontScale="70000" lnSpcReduction="20000"/>
          </a:bodyPr>
          <a:lstStyle/>
          <a:p>
            <a:r>
              <a:rPr lang="it-IT" noProof="0" dirty="0"/>
              <a:t>A WIDE-COLUMN NOSQL database</a:t>
            </a:r>
          </a:p>
        </p:txBody>
      </p:sp>
      <p:sp>
        <p:nvSpPr>
          <p:cNvPr id="6" name="Sottotitolo 2"/>
          <p:cNvSpPr txBox="1">
            <a:spLocks/>
          </p:cNvSpPr>
          <p:nvPr/>
        </p:nvSpPr>
        <p:spPr>
          <a:xfrm>
            <a:off x="822960" y="2243941"/>
            <a:ext cx="7543800" cy="296006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35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 err="1"/>
              <a:t>Getting</a:t>
            </a:r>
            <a:r>
              <a:rPr lang="it-IT" noProof="0" dirty="0"/>
              <a:t> </a:t>
            </a:r>
            <a:r>
              <a:rPr lang="it-IT" noProof="0" dirty="0" err="1"/>
              <a:t>started</a:t>
            </a:r>
            <a:endParaRPr lang="it-IT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54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Introduzione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it-IT" noProof="0" dirty="0"/>
              <a:t>Cassandra è un database </a:t>
            </a:r>
            <a:r>
              <a:rPr lang="it-IT" noProof="0" dirty="0" err="1"/>
              <a:t>NoSQL</a:t>
            </a:r>
            <a:r>
              <a:rPr lang="it-IT" noProof="0" dirty="0"/>
              <a:t> wide-</a:t>
            </a:r>
            <a:r>
              <a:rPr lang="it-IT" noProof="0" dirty="0" err="1"/>
              <a:t>column</a:t>
            </a:r>
            <a:r>
              <a:rPr lang="it-IT" dirty="0"/>
              <a:t>, </a:t>
            </a:r>
            <a:r>
              <a:rPr lang="it-IT" noProof="0" dirty="0"/>
              <a:t>ispirato al modello </a:t>
            </a:r>
            <a:r>
              <a:rPr lang="it-IT" noProof="0" dirty="0" err="1"/>
              <a:t>BigTable</a:t>
            </a:r>
            <a:endParaRPr lang="it-IT" noProof="0" dirty="0"/>
          </a:p>
          <a:p>
            <a:r>
              <a:rPr lang="it-IT" noProof="0" dirty="0"/>
              <a:t>I database </a:t>
            </a:r>
            <a:r>
              <a:rPr lang="it-IT" dirty="0"/>
              <a:t>wide-</a:t>
            </a:r>
            <a:r>
              <a:rPr lang="it-IT" noProof="0" dirty="0" err="1"/>
              <a:t>column</a:t>
            </a:r>
            <a:r>
              <a:rPr lang="it-IT" noProof="0" dirty="0"/>
              <a:t> riprendono il concetto relazionale di </a:t>
            </a:r>
            <a:r>
              <a:rPr lang="it-IT" i="1" noProof="0" dirty="0"/>
              <a:t>riga,</a:t>
            </a:r>
            <a:r>
              <a:rPr lang="it-IT" noProof="0" dirty="0"/>
              <a:t> ma lo modificano sostanzialmente</a:t>
            </a:r>
            <a:endParaRPr lang="it-IT" b="1" i="1" noProof="0" dirty="0"/>
          </a:p>
          <a:p>
            <a:pPr lvl="1"/>
            <a:r>
              <a:rPr lang="it-IT" noProof="0" dirty="0"/>
              <a:t>Una riga è sempre associata ad una chiave (primaria)</a:t>
            </a:r>
            <a:endParaRPr lang="it-IT" noProof="0" dirty="0">
              <a:solidFill>
                <a:srgbClr val="FF0000"/>
              </a:solidFill>
            </a:endParaRPr>
          </a:p>
          <a:p>
            <a:pPr lvl="1"/>
            <a:r>
              <a:rPr lang="it-IT" noProof="0" dirty="0">
                <a:solidFill>
                  <a:srgbClr val="0070C0"/>
                </a:solidFill>
              </a:rPr>
              <a:t>Ogni riga contiene la propria definizione di colonne e valori</a:t>
            </a:r>
          </a:p>
          <a:p>
            <a:r>
              <a:rPr lang="it-IT" noProof="0" dirty="0"/>
              <a:t>Alcune delle caratteristiche principali:</a:t>
            </a:r>
          </a:p>
          <a:p>
            <a:pPr lvl="1"/>
            <a:r>
              <a:rPr lang="it-IT" dirty="0"/>
              <a:t>Gestione decentralizzata di repliche e scritture </a:t>
            </a:r>
            <a:r>
              <a:rPr lang="it-IT" dirty="0">
                <a:solidFill>
                  <a:srgbClr val="FF0000"/>
                </a:solidFill>
              </a:rPr>
              <a:t>(peer-to-peer)</a:t>
            </a:r>
          </a:p>
          <a:p>
            <a:pPr lvl="2"/>
            <a:r>
              <a:rPr lang="it-IT" dirty="0"/>
              <a:t>Garantisce un'elevata disponibilità del sistema e non presenta</a:t>
            </a:r>
            <a:r>
              <a:rPr lang="it-IT" i="1" dirty="0"/>
              <a:t> </a:t>
            </a:r>
            <a:r>
              <a:rPr lang="it-IT" dirty="0"/>
              <a:t>un </a:t>
            </a:r>
            <a:r>
              <a:rPr lang="it-IT" i="1" dirty="0"/>
              <a:t>single </a:t>
            </a:r>
            <a:r>
              <a:rPr lang="it-IT" i="1" dirty="0" err="1"/>
              <a:t>point</a:t>
            </a:r>
            <a:r>
              <a:rPr lang="it-IT" i="1" dirty="0"/>
              <a:t> of </a:t>
            </a:r>
            <a:r>
              <a:rPr lang="it-IT" i="1" dirty="0" err="1"/>
              <a:t>failure</a:t>
            </a:r>
            <a:endParaRPr lang="it-IT" noProof="0" dirty="0"/>
          </a:p>
          <a:p>
            <a:pPr lvl="1"/>
            <a:r>
              <a:rPr lang="it-IT" dirty="0"/>
              <a:t>Scalabilità semplice e lineare</a:t>
            </a:r>
          </a:p>
          <a:p>
            <a:pPr lvl="1"/>
            <a:r>
              <a:rPr lang="it-IT" dirty="0"/>
              <a:t>Il livello di consistenza (</a:t>
            </a:r>
            <a:r>
              <a:rPr lang="it-IT" dirty="0" err="1"/>
              <a:t>one</a:t>
            </a:r>
            <a:r>
              <a:rPr lang="it-IT" dirty="0"/>
              <a:t>, quorum, </a:t>
            </a:r>
            <a:r>
              <a:rPr lang="it-IT" dirty="0" err="1"/>
              <a:t>all</a:t>
            </a:r>
            <a:r>
              <a:rPr lang="it-IT" dirty="0"/>
              <a:t>) è settato in fase di interrogazione</a:t>
            </a:r>
          </a:p>
          <a:p>
            <a:pPr lvl="1"/>
            <a:r>
              <a:rPr lang="it-IT" dirty="0">
                <a:solidFill>
                  <a:srgbClr val="FF0000"/>
                </a:solidFill>
              </a:rPr>
              <a:t>CQL</a:t>
            </a:r>
            <a:r>
              <a:rPr lang="it-IT" dirty="0"/>
              <a:t> (Cassandra Query Language)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0CCE87-1B0E-4A52-BA2E-4B6B74896E37}" type="slidenum">
              <a:rPr lang="it-IT" smtClean="0"/>
              <a:pPr>
                <a:defRPr/>
              </a:pPr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6001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Installazione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Installazione</a:t>
            </a:r>
            <a:r>
              <a:rPr lang="en-US" dirty="0"/>
              <a:t> di base</a:t>
            </a:r>
          </a:p>
          <a:p>
            <a:pPr lvl="1"/>
            <a:r>
              <a:rPr lang="en-US" dirty="0"/>
              <a:t>Cassandra è </a:t>
            </a:r>
            <a:r>
              <a:rPr lang="en-US" dirty="0" err="1"/>
              <a:t>avviato</a:t>
            </a:r>
            <a:r>
              <a:rPr lang="en-US" dirty="0"/>
              <a:t> </a:t>
            </a:r>
            <a:r>
              <a:rPr lang="en-US" dirty="0" err="1"/>
              <a:t>all’interno</a:t>
            </a:r>
            <a:r>
              <a:rPr lang="en-US" dirty="0"/>
              <a:t> di un container Docker</a:t>
            </a:r>
          </a:p>
          <a:p>
            <a:pPr lvl="1"/>
            <a:r>
              <a:rPr lang="en-US" dirty="0"/>
              <a:t>Per </a:t>
            </a:r>
            <a:r>
              <a:rPr lang="en-US" dirty="0" err="1"/>
              <a:t>accedere</a:t>
            </a:r>
            <a:r>
              <a:rPr lang="en-US" dirty="0"/>
              <a:t> al container </a:t>
            </a:r>
            <a:r>
              <a:rPr lang="en-US" dirty="0" err="1"/>
              <a:t>eseguire</a:t>
            </a:r>
            <a:r>
              <a:rPr lang="en-US" dirty="0"/>
              <a:t> il commando</a:t>
            </a:r>
          </a:p>
          <a:p>
            <a:pPr lvl="2"/>
            <a:r>
              <a:rPr lang="en-US" dirty="0"/>
              <a:t>docker exec -it </a:t>
            </a:r>
            <a:r>
              <a:rPr lang="en-US" dirty="0" err="1"/>
              <a:t>cassandra</a:t>
            </a:r>
            <a:r>
              <a:rPr lang="en-US" dirty="0"/>
              <a:t> /bin/bash </a:t>
            </a:r>
          </a:p>
          <a:p>
            <a:pPr lvl="1"/>
            <a:r>
              <a:rPr lang="en-US" dirty="0" err="1"/>
              <a:t>Avviare</a:t>
            </a:r>
            <a:r>
              <a:rPr lang="en-US" dirty="0"/>
              <a:t> la shell CQL</a:t>
            </a:r>
          </a:p>
          <a:p>
            <a:pPr lvl="2"/>
            <a:r>
              <a:rPr lang="en-US" dirty="0" err="1"/>
              <a:t>cqlsh</a:t>
            </a:r>
            <a:endParaRPr lang="en-US" dirty="0"/>
          </a:p>
          <a:p>
            <a:r>
              <a:rPr lang="en-US" dirty="0" err="1"/>
              <a:t>DataStax</a:t>
            </a:r>
            <a:r>
              <a:rPr lang="en-US" dirty="0"/>
              <a:t> è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principale</a:t>
            </a:r>
            <a:r>
              <a:rPr lang="en-US" dirty="0"/>
              <a:t> </a:t>
            </a:r>
            <a:r>
              <a:rPr lang="en-US" dirty="0" err="1"/>
              <a:t>fornitore</a:t>
            </a:r>
            <a:r>
              <a:rPr lang="en-US" dirty="0"/>
              <a:t> di software </a:t>
            </a:r>
            <a:r>
              <a:rPr lang="en-US" dirty="0" err="1"/>
              <a:t>basati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Cassandra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DataStax Enterprise (DSE): </a:t>
            </a:r>
            <a:r>
              <a:rPr lang="en-US" dirty="0" err="1">
                <a:solidFill>
                  <a:srgbClr val="0070C0"/>
                </a:solidFill>
              </a:rPr>
              <a:t>gratuito</a:t>
            </a:r>
            <a:r>
              <a:rPr lang="en-US" dirty="0">
                <a:solidFill>
                  <a:srgbClr val="0070C0"/>
                </a:solidFill>
              </a:rPr>
              <a:t> per </a:t>
            </a:r>
            <a:r>
              <a:rPr lang="en-US" dirty="0" err="1">
                <a:solidFill>
                  <a:srgbClr val="0070C0"/>
                </a:solidFill>
              </a:rPr>
              <a:t>scopi</a:t>
            </a:r>
            <a:r>
              <a:rPr lang="en-US" dirty="0">
                <a:solidFill>
                  <a:srgbClr val="0070C0"/>
                </a:solidFill>
              </a:rPr>
              <a:t> non </a:t>
            </a:r>
            <a:r>
              <a:rPr lang="en-US" dirty="0" err="1">
                <a:solidFill>
                  <a:srgbClr val="0070C0"/>
                </a:solidFill>
              </a:rPr>
              <a:t>commerciali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>
                <a:solidFill>
                  <a:srgbClr val="0070C0"/>
                </a:solidFill>
              </a:rPr>
              <a:t>DataStax Studio e DevCenter: </a:t>
            </a:r>
            <a:r>
              <a:rPr lang="en-US" dirty="0" err="1">
                <a:solidFill>
                  <a:srgbClr val="0070C0"/>
                </a:solidFill>
              </a:rPr>
              <a:t>strumenti</a:t>
            </a:r>
            <a:r>
              <a:rPr lang="en-US" dirty="0">
                <a:solidFill>
                  <a:srgbClr val="0070C0"/>
                </a:solidFill>
              </a:rPr>
              <a:t> per </a:t>
            </a:r>
            <a:r>
              <a:rPr lang="en-US" dirty="0" err="1">
                <a:solidFill>
                  <a:srgbClr val="0070C0"/>
                </a:solidFill>
              </a:rPr>
              <a:t>interrogare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dati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328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</a:t>
            </a:r>
            <a:r>
              <a:rPr lang="en-US" dirty="0" err="1"/>
              <a:t>Obsoleto</a:t>
            </a:r>
            <a:r>
              <a:rPr lang="en-US" dirty="0"/>
              <a:t>] </a:t>
            </a:r>
            <a:r>
              <a:rPr lang="en-US" dirty="0" err="1"/>
              <a:t>Installazione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Installazione</a:t>
            </a:r>
            <a:r>
              <a:rPr lang="en-US" dirty="0"/>
              <a:t> di base</a:t>
            </a:r>
          </a:p>
          <a:p>
            <a:pPr lvl="1"/>
            <a:r>
              <a:rPr lang="en-US" dirty="0" err="1"/>
              <a:t>Scaricare</a:t>
            </a:r>
            <a:r>
              <a:rPr lang="en-US" dirty="0"/>
              <a:t> </a:t>
            </a:r>
            <a:r>
              <a:rPr lang="en-US" dirty="0" err="1"/>
              <a:t>l'ultima</a:t>
            </a:r>
            <a:r>
              <a:rPr lang="en-US" dirty="0"/>
              <a:t> </a:t>
            </a:r>
            <a:r>
              <a:rPr lang="en-US" dirty="0" err="1"/>
              <a:t>versione</a:t>
            </a:r>
            <a:r>
              <a:rPr lang="en-US" dirty="0"/>
              <a:t> dal </a:t>
            </a:r>
            <a:r>
              <a:rPr lang="en-US" dirty="0" err="1"/>
              <a:t>sito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http://cassandra.apache.org/download/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Scompattare</a:t>
            </a:r>
            <a:r>
              <a:rPr lang="en-US" dirty="0"/>
              <a:t> </a:t>
            </a:r>
            <a:r>
              <a:rPr lang="en-US" dirty="0" err="1"/>
              <a:t>l'archivio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 </a:t>
            </a:r>
            <a:r>
              <a:rPr lang="en-US" dirty="0" err="1"/>
              <a:t>impostare</a:t>
            </a:r>
            <a:r>
              <a:rPr lang="en-US" dirty="0"/>
              <a:t> la </a:t>
            </a:r>
            <a:r>
              <a:rPr lang="en-US" dirty="0" err="1"/>
              <a:t>variabile</a:t>
            </a:r>
            <a:r>
              <a:rPr lang="en-US" dirty="0"/>
              <a:t> </a:t>
            </a:r>
            <a:r>
              <a:rPr lang="en-US" dirty="0" err="1"/>
              <a:t>d'ambiente</a:t>
            </a:r>
            <a:r>
              <a:rPr lang="en-US" dirty="0"/>
              <a:t> JAVA_HOME</a:t>
            </a:r>
          </a:p>
          <a:p>
            <a:pPr lvl="1"/>
            <a:r>
              <a:rPr lang="en-US" dirty="0" err="1"/>
              <a:t>Avviare</a:t>
            </a:r>
            <a:r>
              <a:rPr lang="en-US" dirty="0"/>
              <a:t> Cassandra: bin/</a:t>
            </a:r>
            <a:r>
              <a:rPr lang="en-US" dirty="0" err="1"/>
              <a:t>cassandra</a:t>
            </a:r>
            <a:r>
              <a:rPr lang="en-US" dirty="0"/>
              <a:t> -f -R</a:t>
            </a:r>
          </a:p>
          <a:p>
            <a:pPr lvl="1"/>
            <a:r>
              <a:rPr lang="en-US" dirty="0" err="1"/>
              <a:t>Avviare</a:t>
            </a:r>
            <a:r>
              <a:rPr lang="en-US" dirty="0"/>
              <a:t> la shell CQL: </a:t>
            </a:r>
            <a:r>
              <a:rPr lang="en-US" dirty="0" err="1"/>
              <a:t>cqlsh</a:t>
            </a:r>
            <a:endParaRPr lang="en-US" dirty="0"/>
          </a:p>
          <a:p>
            <a:r>
              <a:rPr lang="en-US" dirty="0" err="1"/>
              <a:t>DataStax</a:t>
            </a:r>
            <a:r>
              <a:rPr lang="en-US" dirty="0"/>
              <a:t> è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principale</a:t>
            </a:r>
            <a:r>
              <a:rPr lang="en-US" dirty="0"/>
              <a:t> </a:t>
            </a:r>
            <a:r>
              <a:rPr lang="en-US" dirty="0" err="1"/>
              <a:t>fornitore</a:t>
            </a:r>
            <a:r>
              <a:rPr lang="en-US" dirty="0"/>
              <a:t> di software </a:t>
            </a:r>
            <a:r>
              <a:rPr lang="en-US" dirty="0" err="1"/>
              <a:t>basati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Cassandra</a:t>
            </a:r>
          </a:p>
          <a:p>
            <a:pPr lvl="1"/>
            <a:r>
              <a:rPr lang="en-US" dirty="0" err="1"/>
              <a:t>DataStax</a:t>
            </a:r>
            <a:r>
              <a:rPr lang="en-US" dirty="0"/>
              <a:t> Community Edition: </a:t>
            </a:r>
            <a:r>
              <a:rPr lang="en-US" dirty="0" err="1"/>
              <a:t>gratuito</a:t>
            </a:r>
            <a:r>
              <a:rPr lang="en-US" dirty="0"/>
              <a:t>, non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supportato</a:t>
            </a:r>
            <a:r>
              <a:rPr lang="en-US" dirty="0"/>
              <a:t> (</a:t>
            </a:r>
            <a:r>
              <a:rPr lang="en-US" dirty="0" err="1"/>
              <a:t>obsoleto</a:t>
            </a:r>
            <a:r>
              <a:rPr lang="en-US" dirty="0"/>
              <a:t>)</a:t>
            </a:r>
          </a:p>
          <a:p>
            <a:pPr lvl="1"/>
            <a:r>
              <a:rPr lang="en-US" dirty="0" err="1">
                <a:solidFill>
                  <a:srgbClr val="0070C0"/>
                </a:solidFill>
              </a:rPr>
              <a:t>DataStax</a:t>
            </a:r>
            <a:r>
              <a:rPr lang="en-US" dirty="0">
                <a:solidFill>
                  <a:srgbClr val="0070C0"/>
                </a:solidFill>
              </a:rPr>
              <a:t> Enterprise (DSE): </a:t>
            </a:r>
            <a:r>
              <a:rPr lang="en-US" dirty="0" err="1">
                <a:solidFill>
                  <a:srgbClr val="0070C0"/>
                </a:solidFill>
              </a:rPr>
              <a:t>gratuito</a:t>
            </a:r>
            <a:r>
              <a:rPr lang="en-US" dirty="0">
                <a:solidFill>
                  <a:srgbClr val="0070C0"/>
                </a:solidFill>
              </a:rPr>
              <a:t> per </a:t>
            </a:r>
            <a:r>
              <a:rPr lang="en-US" dirty="0" err="1">
                <a:solidFill>
                  <a:srgbClr val="0070C0"/>
                </a:solidFill>
              </a:rPr>
              <a:t>scopi</a:t>
            </a:r>
            <a:r>
              <a:rPr lang="en-US" dirty="0">
                <a:solidFill>
                  <a:srgbClr val="0070C0"/>
                </a:solidFill>
              </a:rPr>
              <a:t> non </a:t>
            </a:r>
            <a:r>
              <a:rPr lang="en-US" dirty="0" err="1">
                <a:solidFill>
                  <a:srgbClr val="0070C0"/>
                </a:solidFill>
              </a:rPr>
              <a:t>commerciali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 err="1"/>
              <a:t>DataStax</a:t>
            </a:r>
            <a:r>
              <a:rPr lang="en-US" dirty="0"/>
              <a:t> </a:t>
            </a:r>
            <a:r>
              <a:rPr lang="en-US" dirty="0" err="1"/>
              <a:t>OpsCenter</a:t>
            </a:r>
            <a:r>
              <a:rPr lang="en-US" dirty="0"/>
              <a:t>: </a:t>
            </a:r>
            <a:r>
              <a:rPr lang="en-US" dirty="0" err="1"/>
              <a:t>strumento</a:t>
            </a:r>
            <a:r>
              <a:rPr lang="en-US" dirty="0"/>
              <a:t> per </a:t>
            </a:r>
            <a:r>
              <a:rPr lang="en-US" dirty="0" err="1"/>
              <a:t>configurare</a:t>
            </a:r>
            <a:r>
              <a:rPr lang="en-US" dirty="0"/>
              <a:t> e </a:t>
            </a:r>
            <a:r>
              <a:rPr lang="en-US" dirty="0" err="1"/>
              <a:t>gestire</a:t>
            </a:r>
            <a:r>
              <a:rPr lang="en-US" dirty="0"/>
              <a:t> un cluster</a:t>
            </a:r>
          </a:p>
          <a:p>
            <a:pPr lvl="1"/>
            <a:r>
              <a:rPr lang="en-US" dirty="0" err="1">
                <a:solidFill>
                  <a:srgbClr val="0070C0"/>
                </a:solidFill>
              </a:rPr>
              <a:t>DataStax</a:t>
            </a:r>
            <a:r>
              <a:rPr lang="en-US" dirty="0">
                <a:solidFill>
                  <a:srgbClr val="0070C0"/>
                </a:solidFill>
              </a:rPr>
              <a:t> Studio e </a:t>
            </a:r>
            <a:r>
              <a:rPr lang="en-US" dirty="0" err="1">
                <a:solidFill>
                  <a:srgbClr val="0070C0"/>
                </a:solidFill>
              </a:rPr>
              <a:t>DevCenter</a:t>
            </a:r>
            <a:r>
              <a:rPr lang="en-US" dirty="0">
                <a:solidFill>
                  <a:srgbClr val="0070C0"/>
                </a:solidFill>
              </a:rPr>
              <a:t>: </a:t>
            </a:r>
            <a:r>
              <a:rPr lang="en-US" dirty="0" err="1">
                <a:solidFill>
                  <a:srgbClr val="0070C0"/>
                </a:solidFill>
              </a:rPr>
              <a:t>strumenti</a:t>
            </a:r>
            <a:r>
              <a:rPr lang="en-US" dirty="0">
                <a:solidFill>
                  <a:srgbClr val="0070C0"/>
                </a:solidFill>
              </a:rPr>
              <a:t> per </a:t>
            </a:r>
            <a:r>
              <a:rPr lang="en-US" dirty="0" err="1">
                <a:solidFill>
                  <a:srgbClr val="0070C0"/>
                </a:solidFill>
              </a:rPr>
              <a:t>interrogare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dati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07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</a:t>
            </a:r>
            <a:r>
              <a:rPr lang="en-US" dirty="0" err="1"/>
              <a:t>Obsoleto</a:t>
            </a:r>
            <a:r>
              <a:rPr lang="en-US" dirty="0"/>
              <a:t>] </a:t>
            </a:r>
            <a:r>
              <a:rPr lang="en-US" dirty="0" err="1"/>
              <a:t>Installazione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Il </a:t>
            </a:r>
            <a:r>
              <a:rPr lang="en-US" dirty="0" err="1"/>
              <a:t>sito</a:t>
            </a:r>
            <a:r>
              <a:rPr lang="en-US" dirty="0"/>
              <a:t> di </a:t>
            </a:r>
            <a:r>
              <a:rPr lang="en-US" dirty="0" err="1"/>
              <a:t>DataStax</a:t>
            </a:r>
            <a:r>
              <a:rPr lang="en-US" dirty="0"/>
              <a:t> propone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sezione</a:t>
            </a:r>
            <a:r>
              <a:rPr lang="en-US" dirty="0"/>
              <a:t> Academy per </a:t>
            </a:r>
            <a:r>
              <a:rPr lang="en-US" dirty="0" err="1"/>
              <a:t>imparare</a:t>
            </a:r>
            <a:r>
              <a:rPr lang="en-US" dirty="0"/>
              <a:t> ad </a:t>
            </a:r>
            <a:r>
              <a:rPr lang="en-US" dirty="0" err="1"/>
              <a:t>utilizzare</a:t>
            </a:r>
            <a:r>
              <a:rPr lang="en-US" dirty="0"/>
              <a:t> Cassandra e la suite software </a:t>
            </a:r>
            <a:r>
              <a:rPr lang="en-US" dirty="0" err="1"/>
              <a:t>DataStax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https://academy.datastax.com/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Necessaria</a:t>
            </a:r>
            <a:r>
              <a:rPr lang="en-US" dirty="0"/>
              <a:t> la </a:t>
            </a:r>
            <a:r>
              <a:rPr lang="en-US" dirty="0" err="1"/>
              <a:t>registrazione</a:t>
            </a:r>
            <a:r>
              <a:rPr lang="en-US" dirty="0"/>
              <a:t> (</a:t>
            </a:r>
            <a:r>
              <a:rPr lang="en-US" dirty="0" err="1"/>
              <a:t>gratuita</a:t>
            </a:r>
            <a:r>
              <a:rPr lang="en-US" dirty="0"/>
              <a:t>)</a:t>
            </a:r>
          </a:p>
          <a:p>
            <a:r>
              <a:rPr lang="en-US" dirty="0"/>
              <a:t>Video-tutorial</a:t>
            </a:r>
          </a:p>
          <a:p>
            <a:pPr lvl="1"/>
            <a:r>
              <a:rPr lang="en-US" dirty="0">
                <a:hlinkClick r:id="rId3"/>
              </a:rPr>
              <a:t>https://academy.datastax.com/courses</a:t>
            </a:r>
            <a:r>
              <a:rPr lang="en-US" dirty="0"/>
              <a:t> </a:t>
            </a:r>
          </a:p>
          <a:p>
            <a:r>
              <a:rPr lang="en-US" dirty="0" err="1"/>
              <a:t>DataStax</a:t>
            </a:r>
            <a:r>
              <a:rPr lang="en-US" dirty="0"/>
              <a:t> Sandbox</a:t>
            </a:r>
          </a:p>
          <a:p>
            <a:pPr lvl="1"/>
            <a:r>
              <a:rPr lang="en-US" dirty="0"/>
              <a:t>Una </a:t>
            </a:r>
            <a:r>
              <a:rPr lang="en-US" dirty="0" err="1"/>
              <a:t>macchina</a:t>
            </a:r>
            <a:r>
              <a:rPr lang="en-US" dirty="0"/>
              <a:t> </a:t>
            </a:r>
            <a:r>
              <a:rPr lang="en-US" dirty="0" err="1"/>
              <a:t>virtuale</a:t>
            </a:r>
            <a:r>
              <a:rPr lang="en-US" dirty="0"/>
              <a:t> Linux </a:t>
            </a:r>
            <a:r>
              <a:rPr lang="en-US" dirty="0" err="1"/>
              <a:t>già</a:t>
            </a:r>
            <a:r>
              <a:rPr lang="en-US" dirty="0"/>
              <a:t> </a:t>
            </a:r>
            <a:r>
              <a:rPr lang="en-US" dirty="0" err="1"/>
              <a:t>configurata</a:t>
            </a:r>
            <a:r>
              <a:rPr lang="en-US" dirty="0"/>
              <a:t> per </a:t>
            </a:r>
            <a:r>
              <a:rPr lang="en-US" dirty="0" err="1"/>
              <a:t>lavorare</a:t>
            </a:r>
            <a:r>
              <a:rPr lang="en-US" dirty="0"/>
              <a:t> </a:t>
            </a:r>
            <a:r>
              <a:rPr lang="en-US" dirty="0" err="1"/>
              <a:t>subito</a:t>
            </a:r>
            <a:r>
              <a:rPr lang="en-US" dirty="0"/>
              <a:t> con Cassandra</a:t>
            </a:r>
          </a:p>
          <a:p>
            <a:pPr lvl="1"/>
            <a:r>
              <a:rPr lang="en-US" dirty="0">
                <a:hlinkClick r:id="rId4"/>
              </a:rPr>
              <a:t>https://portal.datastax.com/downloads.php?dsedownload=tar/enterprise/sandbox/DataStax_Sandbox.ova</a:t>
            </a:r>
            <a:r>
              <a:rPr lang="en-US" dirty="0"/>
              <a:t>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00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</a:t>
            </a:r>
            <a:r>
              <a:rPr lang="en-US" dirty="0" err="1"/>
              <a:t>Obsoleto</a:t>
            </a:r>
            <a:r>
              <a:rPr lang="en-US" dirty="0"/>
              <a:t>] </a:t>
            </a:r>
            <a:r>
              <a:rPr lang="en-US" dirty="0" err="1"/>
              <a:t>Installazione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Fonte di </a:t>
            </a:r>
            <a:r>
              <a:rPr lang="en-US" dirty="0" err="1"/>
              <a:t>riferimento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https://academy.datastax.com/resources/ds220-data-modeling</a:t>
            </a:r>
            <a:endParaRPr lang="en-US" dirty="0"/>
          </a:p>
          <a:p>
            <a:r>
              <a:rPr lang="en-US" dirty="0" err="1"/>
              <a:t>Macchina</a:t>
            </a:r>
            <a:r>
              <a:rPr lang="en-US" dirty="0"/>
              <a:t> </a:t>
            </a:r>
            <a:r>
              <a:rPr lang="en-US" dirty="0" err="1"/>
              <a:t>virtuale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https://s3.amazonaws.com/datastaxtraining/VM/DS220-vm-Jul2015.zip</a:t>
            </a:r>
            <a:endParaRPr lang="en-US" dirty="0"/>
          </a:p>
          <a:p>
            <a:pPr lvl="1"/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leggera</a:t>
            </a:r>
            <a:r>
              <a:rPr lang="en-US" dirty="0"/>
              <a:t> di </a:t>
            </a:r>
            <a:r>
              <a:rPr lang="en-US" dirty="0" err="1"/>
              <a:t>quella</a:t>
            </a:r>
            <a:r>
              <a:rPr lang="en-US" dirty="0"/>
              <a:t> </a:t>
            </a:r>
            <a:r>
              <a:rPr lang="en-US" dirty="0" err="1"/>
              <a:t>indicata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slide </a:t>
            </a:r>
            <a:r>
              <a:rPr lang="en-US" dirty="0" err="1"/>
              <a:t>precedente</a:t>
            </a:r>
            <a:endParaRPr lang="en-US" dirty="0"/>
          </a:p>
          <a:p>
            <a:pPr lvl="1"/>
            <a:r>
              <a:rPr lang="en-US" dirty="0" err="1"/>
              <a:t>Contiene</a:t>
            </a:r>
            <a:r>
              <a:rPr lang="en-US" dirty="0"/>
              <a:t> file di </a:t>
            </a:r>
            <a:r>
              <a:rPr lang="en-US" dirty="0" err="1"/>
              <a:t>dati</a:t>
            </a:r>
            <a:r>
              <a:rPr lang="en-US" dirty="0"/>
              <a:t> da </a:t>
            </a:r>
            <a:r>
              <a:rPr lang="en-US" dirty="0" err="1"/>
              <a:t>usare</a:t>
            </a:r>
            <a:r>
              <a:rPr lang="en-US" dirty="0"/>
              <a:t> per le </a:t>
            </a:r>
            <a:r>
              <a:rPr lang="en-US" dirty="0" err="1"/>
              <a:t>esercitazioni</a:t>
            </a:r>
            <a:endParaRPr lang="en-US" dirty="0"/>
          </a:p>
          <a:p>
            <a:pPr lvl="1"/>
            <a:r>
              <a:rPr lang="en-US" dirty="0"/>
              <a:t>(</a:t>
            </a:r>
            <a:r>
              <a:rPr lang="en-US" dirty="0" err="1"/>
              <a:t>attenzione</a:t>
            </a:r>
            <a:r>
              <a:rPr lang="en-US" dirty="0"/>
              <a:t>: 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versione</a:t>
            </a:r>
            <a:r>
              <a:rPr lang="en-US" dirty="0"/>
              <a:t> di Cassandra del 2015)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628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KillrVideo</a:t>
            </a:r>
            <a:r>
              <a:rPr lang="en-US" dirty="0"/>
              <a:t> dataset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di </a:t>
            </a:r>
            <a:r>
              <a:rPr lang="en-US" dirty="0" err="1"/>
              <a:t>esempio</a:t>
            </a:r>
            <a:r>
              <a:rPr lang="en-US" dirty="0"/>
              <a:t>,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supporta</a:t>
            </a:r>
            <a:r>
              <a:rPr lang="en-US" dirty="0"/>
              <a:t> un </a:t>
            </a:r>
            <a:r>
              <a:rPr lang="en-US" dirty="0" err="1"/>
              <a:t>sito</a:t>
            </a:r>
            <a:r>
              <a:rPr lang="en-US" dirty="0"/>
              <a:t> per la </a:t>
            </a:r>
            <a:r>
              <a:rPr lang="en-US" dirty="0" err="1"/>
              <a:t>condivisione</a:t>
            </a:r>
            <a:r>
              <a:rPr lang="en-US" dirty="0"/>
              <a:t> di video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996" y="2373490"/>
            <a:ext cx="541972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916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DDL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Keyspace</a:t>
            </a:r>
            <a:r>
              <a:rPr lang="en-US" dirty="0"/>
              <a:t> = Database</a:t>
            </a:r>
          </a:p>
          <a:p>
            <a:pPr lvl="1"/>
            <a:r>
              <a:rPr lang="en-US" dirty="0"/>
              <a:t>Class = </a:t>
            </a:r>
            <a:r>
              <a:rPr lang="en-US" dirty="0" err="1"/>
              <a:t>strategia</a:t>
            </a:r>
            <a:r>
              <a:rPr lang="en-US" dirty="0"/>
              <a:t> di </a:t>
            </a:r>
            <a:r>
              <a:rPr lang="en-US" dirty="0" err="1"/>
              <a:t>sharding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01168" lvl="1" indent="0">
              <a:buNone/>
            </a:pPr>
            <a:endParaRPr lang="en-US" dirty="0"/>
          </a:p>
          <a:p>
            <a:pPr marL="201168" lvl="1" indent="0">
              <a:buNone/>
            </a:pP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5109209" y="1833577"/>
            <a:ext cx="24775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Table = Column family</a:t>
            </a:r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995" y="4681086"/>
            <a:ext cx="5303728" cy="929519"/>
          </a:xfrm>
          <a:prstGeom prst="rect">
            <a:avLst/>
          </a:prstGeom>
        </p:spPr>
      </p:pic>
      <p:sp>
        <p:nvSpPr>
          <p:cNvPr id="10" name="CasellaDiTesto 9"/>
          <p:cNvSpPr txBox="1"/>
          <p:nvPr/>
        </p:nvSpPr>
        <p:spPr>
          <a:xfrm>
            <a:off x="822959" y="2606715"/>
            <a:ext cx="351731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KEYSPACE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killrvideo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b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</a:b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WITH REPLICATION = { </a:t>
            </a:r>
            <a:b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</a:b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'class'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: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en-US" sz="1600" dirty="0" err="1">
                <a:solidFill>
                  <a:srgbClr val="DD1144"/>
                </a:solidFill>
                <a:latin typeface="inherit"/>
              </a:rPr>
              <a:t>SimpleStrategy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  <a:b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</a:b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en-US" sz="1600" dirty="0" err="1">
                <a:solidFill>
                  <a:srgbClr val="DD1144"/>
                </a:solidFill>
                <a:latin typeface="inherit"/>
              </a:rPr>
              <a:t>replication_factor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: </a:t>
            </a:r>
            <a:r>
              <a:rPr lang="en-US" sz="1600" dirty="0">
                <a:solidFill>
                  <a:srgbClr val="009999"/>
                </a:solidFill>
                <a:latin typeface="Courier New" panose="02070309020205020404" pitchFamily="49" charset="0"/>
              </a:rPr>
              <a:t>1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b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</a:b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};</a:t>
            </a:r>
          </a:p>
          <a:p>
            <a:endParaRPr lang="en-US" sz="16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it-IT" sz="1600" dirty="0">
                <a:solidFill>
                  <a:srgbClr val="374C51"/>
                </a:solidFill>
                <a:latin typeface="Courier New" panose="02070309020205020404" pitchFamily="49" charset="0"/>
              </a:rPr>
              <a:t>USE </a:t>
            </a:r>
            <a:r>
              <a:rPr lang="it-IT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killrvideo</a:t>
            </a:r>
            <a:r>
              <a:rPr lang="it-IT" sz="16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  <a:endParaRPr lang="en-US" sz="1600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5109209" y="2612218"/>
            <a:ext cx="31470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users (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UUID,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first_name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last_name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(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83427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Tipi di </a:t>
            </a:r>
            <a:r>
              <a:rPr lang="en-US" dirty="0" err="1"/>
              <a:t>dato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Text, </a:t>
            </a:r>
            <a:r>
              <a:rPr lang="en-US" dirty="0" err="1"/>
              <a:t>Int</a:t>
            </a:r>
            <a:r>
              <a:rPr lang="en-US" dirty="0"/>
              <a:t>, ... </a:t>
            </a:r>
          </a:p>
          <a:p>
            <a:r>
              <a:rPr lang="en-US" dirty="0"/>
              <a:t>UUID (Universally Unique </a:t>
            </a:r>
            <a:r>
              <a:rPr lang="en-US" dirty="0" err="1"/>
              <a:t>Identidifier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Generato</a:t>
            </a:r>
            <a:r>
              <a:rPr lang="en-US" dirty="0"/>
              <a:t> </a:t>
            </a:r>
            <a:r>
              <a:rPr lang="en-US" dirty="0" err="1"/>
              <a:t>chiamando</a:t>
            </a:r>
            <a:r>
              <a:rPr lang="en-US" dirty="0"/>
              <a:t> </a:t>
            </a:r>
            <a:r>
              <a:rPr lang="en-US" i="1" dirty="0" err="1"/>
              <a:t>uuid</a:t>
            </a:r>
            <a:r>
              <a:rPr lang="en-US" i="1" dirty="0"/>
              <a:t>()</a:t>
            </a:r>
          </a:p>
          <a:p>
            <a:pPr lvl="1"/>
            <a:r>
              <a:rPr lang="en-US" dirty="0" err="1"/>
              <a:t>Es</a:t>
            </a:r>
            <a:r>
              <a:rPr lang="en-US" dirty="0"/>
              <a:t>: 52b11d6d-16e2-4ee2-b2a9-5ef1e9589328</a:t>
            </a:r>
          </a:p>
          <a:p>
            <a:r>
              <a:rPr lang="en-US" dirty="0" err="1"/>
              <a:t>TimeUUID</a:t>
            </a:r>
            <a:endParaRPr lang="en-US" dirty="0"/>
          </a:p>
          <a:p>
            <a:pPr lvl="1"/>
            <a:r>
              <a:rPr lang="en-US" dirty="0"/>
              <a:t>UUID + timestamp del </a:t>
            </a:r>
            <a:r>
              <a:rPr lang="en-US" dirty="0" err="1"/>
              <a:t>momento</a:t>
            </a:r>
            <a:r>
              <a:rPr lang="en-US" dirty="0"/>
              <a:t> di insert</a:t>
            </a:r>
          </a:p>
          <a:p>
            <a:pPr lvl="1"/>
            <a:r>
              <a:rPr lang="en-US" dirty="0" err="1"/>
              <a:t>Tipicamente</a:t>
            </a:r>
            <a:r>
              <a:rPr lang="en-US" dirty="0"/>
              <a:t> </a:t>
            </a:r>
            <a:r>
              <a:rPr lang="en-US" dirty="0" err="1"/>
              <a:t>utilizzato</a:t>
            </a:r>
            <a:r>
              <a:rPr lang="en-US" dirty="0"/>
              <a:t> per </a:t>
            </a:r>
            <a:r>
              <a:rPr lang="en-US" dirty="0" err="1"/>
              <a:t>memorizzare</a:t>
            </a:r>
            <a:r>
              <a:rPr lang="en-US" dirty="0"/>
              <a:t> </a:t>
            </a:r>
            <a:r>
              <a:rPr lang="en-US" i="1" dirty="0"/>
              <a:t>time series </a:t>
            </a:r>
          </a:p>
          <a:p>
            <a:pPr lvl="1"/>
            <a:r>
              <a:rPr lang="en-US" dirty="0" err="1"/>
              <a:t>Es</a:t>
            </a:r>
            <a:r>
              <a:rPr lang="en-US" dirty="0"/>
              <a:t>: 1be43390-9fe4-11e3-8d05-425861b86ab6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840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 di </a:t>
            </a:r>
            <a:r>
              <a:rPr lang="en-US" dirty="0" err="1"/>
              <a:t>dati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Il </a:t>
            </a:r>
            <a:r>
              <a:rPr lang="en-US" dirty="0" err="1"/>
              <a:t>comando</a:t>
            </a:r>
            <a:r>
              <a:rPr lang="en-US" dirty="0"/>
              <a:t> copy </a:t>
            </a:r>
            <a:r>
              <a:rPr lang="en-US" dirty="0" err="1"/>
              <a:t>permette</a:t>
            </a:r>
            <a:r>
              <a:rPr lang="en-US" dirty="0"/>
              <a:t> di </a:t>
            </a:r>
            <a:r>
              <a:rPr lang="en-US" dirty="0" err="1"/>
              <a:t>caricare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da file </a:t>
            </a:r>
            <a:r>
              <a:rPr lang="en-US" dirty="0" err="1"/>
              <a:t>esterni</a:t>
            </a:r>
            <a:endParaRPr lang="en-US" dirty="0"/>
          </a:p>
          <a:p>
            <a:pPr lvl="1"/>
            <a:r>
              <a:rPr lang="en-US" dirty="0"/>
              <a:t>Header = true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salta</a:t>
            </a:r>
            <a:r>
              <a:rPr lang="en-US" dirty="0">
                <a:sym typeface="Wingdings" panose="05000000000000000000" pitchFamily="2" charset="2"/>
              </a:rPr>
              <a:t> la prima </a:t>
            </a:r>
            <a:r>
              <a:rPr lang="en-US" dirty="0" err="1">
                <a:sym typeface="Wingdings" panose="05000000000000000000" pitchFamily="2" charset="2"/>
              </a:rPr>
              <a:t>riga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Le </a:t>
            </a:r>
            <a:r>
              <a:rPr lang="en-US" dirty="0" err="1">
                <a:sym typeface="Wingdings" panose="05000000000000000000" pitchFamily="2" charset="2"/>
              </a:rPr>
              <a:t>colonne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possono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omettere</a:t>
            </a:r>
            <a:r>
              <a:rPr lang="en-US" dirty="0">
                <a:sym typeface="Wingdings" panose="05000000000000000000" pitchFamily="2" charset="2"/>
              </a:rPr>
              <a:t> se </a:t>
            </a:r>
            <a:r>
              <a:rPr lang="en-US" dirty="0" err="1">
                <a:sym typeface="Wingdings" panose="05000000000000000000" pitchFamily="2" charset="2"/>
              </a:rPr>
              <a:t>coincidono</a:t>
            </a:r>
            <a:r>
              <a:rPr lang="en-US" dirty="0">
                <a:sym typeface="Wingdings" panose="05000000000000000000" pitchFamily="2" charset="2"/>
              </a:rPr>
              <a:t> con </a:t>
            </a:r>
            <a:r>
              <a:rPr lang="en-US" dirty="0" err="1">
                <a:sym typeface="Wingdings" panose="05000000000000000000" pitchFamily="2" charset="2"/>
              </a:rPr>
              <a:t>quelle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della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tabella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822959" y="3026417"/>
            <a:ext cx="51219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COPY table1 (column1, column2, column3)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'table1data.csv'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WITH HEADER=</a:t>
            </a:r>
            <a:r>
              <a:rPr lang="en-US" sz="1600" dirty="0">
                <a:solidFill>
                  <a:srgbClr val="008080"/>
                </a:solidFill>
                <a:latin typeface="Courier New" panose="02070309020205020404" pitchFamily="49" charset="0"/>
              </a:rPr>
              <a:t>true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35875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Molto simile ad SQL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822959" y="2333920"/>
            <a:ext cx="425789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table1; </a:t>
            </a:r>
          </a:p>
          <a:p>
            <a:endParaRPr lang="en-US" sz="1600" b="1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column1, column2, column3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table1; </a:t>
            </a:r>
          </a:p>
          <a:p>
            <a:endParaRPr lang="en-US" sz="1600" b="1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336699"/>
                </a:solidFill>
                <a:latin typeface="Courier New" panose="02070309020205020404" pitchFamily="49" charset="0"/>
              </a:rPr>
              <a:t>COUNT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(*)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table1; </a:t>
            </a:r>
          </a:p>
          <a:p>
            <a:endParaRPr lang="en-US" sz="1600" b="1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table1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LIMIT </a:t>
            </a:r>
            <a:r>
              <a:rPr lang="en-US" sz="1600" dirty="0">
                <a:solidFill>
                  <a:srgbClr val="009999"/>
                </a:solidFill>
                <a:latin typeface="Courier New" panose="02070309020205020404" pitchFamily="49" charset="0"/>
              </a:rPr>
              <a:t>10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59330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1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Setup del </a:t>
            </a:r>
            <a:r>
              <a:rPr lang="en-US" dirty="0" err="1"/>
              <a:t>keyspace</a:t>
            </a:r>
            <a:r>
              <a:rPr lang="en-US" dirty="0"/>
              <a:t> </a:t>
            </a:r>
            <a:r>
              <a:rPr lang="en-US" dirty="0" err="1"/>
              <a:t>killrvideo</a:t>
            </a:r>
            <a:endParaRPr lang="en-US" dirty="0"/>
          </a:p>
          <a:p>
            <a:pPr lvl="1"/>
            <a:r>
              <a:rPr lang="en-US" dirty="0" err="1"/>
              <a:t>Creare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keyspace</a:t>
            </a:r>
            <a:endParaRPr lang="en-US" dirty="0"/>
          </a:p>
          <a:p>
            <a:pPr lvl="1"/>
            <a:r>
              <a:rPr lang="en-US" dirty="0" err="1"/>
              <a:t>Creare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VIDEOS per </a:t>
            </a:r>
            <a:br>
              <a:rPr lang="en-US" dirty="0"/>
            </a:br>
            <a:r>
              <a:rPr lang="en-US" dirty="0" err="1"/>
              <a:t>memorizzare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video </a:t>
            </a:r>
            <a:br>
              <a:rPr lang="en-US" dirty="0"/>
            </a:br>
            <a:r>
              <a:rPr lang="en-US" dirty="0"/>
              <a:t>con le </a:t>
            </a:r>
            <a:r>
              <a:rPr lang="en-US" dirty="0" err="1"/>
              <a:t>colonne</a:t>
            </a:r>
            <a:r>
              <a:rPr lang="en-US" dirty="0"/>
              <a:t> indicate</a:t>
            </a:r>
          </a:p>
          <a:p>
            <a:pPr lvl="1"/>
            <a:r>
              <a:rPr lang="en-US" dirty="0" err="1"/>
              <a:t>Caricare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tabella</a:t>
            </a:r>
            <a:endParaRPr lang="en-US" dirty="0"/>
          </a:p>
          <a:p>
            <a:pPr lvl="2"/>
            <a:r>
              <a:rPr lang="en-US" dirty="0"/>
              <a:t>/root/</a:t>
            </a:r>
            <a:r>
              <a:rPr lang="en-US" dirty="0" err="1"/>
              <a:t>labwork</a:t>
            </a:r>
            <a:r>
              <a:rPr lang="en-US" dirty="0"/>
              <a:t>/exercise-2/videos.csv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Visualizzare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SELECT</a:t>
            </a:r>
          </a:p>
          <a:p>
            <a:pPr lvl="1"/>
            <a:r>
              <a:rPr lang="en-US" dirty="0" err="1"/>
              <a:t>Familiarizzare</a:t>
            </a:r>
            <a:r>
              <a:rPr lang="en-US" dirty="0"/>
              <a:t> con LIMIT e COUNT(*)</a:t>
            </a:r>
          </a:p>
          <a:p>
            <a:pPr lvl="1"/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965331"/>
              </p:ext>
            </p:extLst>
          </p:nvPr>
        </p:nvGraphicFramePr>
        <p:xfrm>
          <a:off x="4838503" y="2509494"/>
          <a:ext cx="3115687" cy="1885134"/>
        </p:xfrm>
        <a:graphic>
          <a:graphicData uri="http://schemas.openxmlformats.org/drawingml/2006/table">
            <a:tbl>
              <a:tblPr/>
              <a:tblGrid>
                <a:gridCol w="1322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 dirty="0" err="1">
                          <a:effectLst/>
                        </a:rPr>
                        <a:t>Column</a:t>
                      </a:r>
                      <a:r>
                        <a:rPr lang="it-IT" sz="1500" b="1" dirty="0">
                          <a:effectLst/>
                        </a:rPr>
                        <a:t> </a:t>
                      </a:r>
                      <a:r>
                        <a:rPr lang="it-IT" sz="1500" b="1" dirty="0" err="1">
                          <a:effectLst/>
                        </a:rPr>
                        <a:t>Name</a:t>
                      </a:r>
                      <a:endParaRPr lang="it-IT" sz="1500" b="1" dirty="0">
                        <a:effectLst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>
                          <a:effectLst/>
                        </a:rPr>
                        <a:t>Data Type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u="sng" dirty="0" err="1">
                          <a:effectLst/>
                          <a:latin typeface="inherit"/>
                        </a:rPr>
                        <a:t>video_id</a:t>
                      </a:r>
                      <a:endParaRPr lang="it-IT" sz="1500" b="0" u="sng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timeuuid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added_date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timestamp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description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title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user_id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uuid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4115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Limitazioni</a:t>
            </a:r>
            <a:r>
              <a:rPr lang="en-US" dirty="0"/>
              <a:t> in </a:t>
            </a:r>
            <a:r>
              <a:rPr lang="en-US" dirty="0" err="1"/>
              <a:t>fase</a:t>
            </a:r>
            <a:r>
              <a:rPr lang="en-US" dirty="0"/>
              <a:t> di query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Cassandra </a:t>
            </a:r>
            <a:r>
              <a:rPr lang="en-US" dirty="0" err="1"/>
              <a:t>impedisce</a:t>
            </a:r>
            <a:r>
              <a:rPr lang="en-US" dirty="0"/>
              <a:t> di </a:t>
            </a:r>
            <a:r>
              <a:rPr lang="en-US" dirty="0" err="1"/>
              <a:t>filtrare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</a:t>
            </a:r>
            <a:r>
              <a:rPr lang="en-US" dirty="0" err="1"/>
              <a:t>senza</a:t>
            </a:r>
            <a:r>
              <a:rPr lang="en-US" dirty="0"/>
              <a:t> </a:t>
            </a:r>
            <a:r>
              <a:rPr lang="en-US" dirty="0" err="1"/>
              <a:t>specificare</a:t>
            </a:r>
            <a:r>
              <a:rPr lang="en-US" dirty="0"/>
              <a:t> </a:t>
            </a:r>
            <a:r>
              <a:rPr lang="en-US" dirty="0" err="1"/>
              <a:t>l'ID</a:t>
            </a:r>
            <a:endParaRPr lang="en-US" dirty="0"/>
          </a:p>
          <a:p>
            <a:pPr lvl="1"/>
            <a:r>
              <a:rPr lang="en-US" dirty="0"/>
              <a:t>A </a:t>
            </a:r>
            <a:r>
              <a:rPr lang="en-US" dirty="0" err="1"/>
              <a:t>meno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sia</a:t>
            </a:r>
            <a:r>
              <a:rPr lang="en-US" dirty="0"/>
              <a:t>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costruito</a:t>
            </a:r>
            <a:r>
              <a:rPr lang="en-US" dirty="0"/>
              <a:t> un </a:t>
            </a:r>
            <a:r>
              <a:rPr lang="en-US" dirty="0" err="1"/>
              <a:t>indice</a:t>
            </a:r>
            <a:r>
              <a:rPr lang="en-US" dirty="0"/>
              <a:t> </a:t>
            </a:r>
            <a:r>
              <a:rPr lang="en-US" dirty="0" err="1"/>
              <a:t>secondario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4150621" y="2843311"/>
            <a:ext cx="451758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title =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'The Original Grumpy Cat'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; </a:t>
            </a:r>
          </a:p>
          <a:p>
            <a:endParaRPr lang="en-US" sz="1600" b="1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&lt;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'2015-05-01'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  <a:endParaRPr lang="en-US" sz="1600" dirty="0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561" y="4767566"/>
            <a:ext cx="7543802" cy="1101528"/>
          </a:xfrm>
          <a:prstGeom prst="rect">
            <a:avLst/>
          </a:prstGeom>
        </p:spPr>
      </p:pic>
      <p:sp>
        <p:nvSpPr>
          <p:cNvPr id="8" name="CasellaDiTesto 7"/>
          <p:cNvSpPr txBox="1"/>
          <p:nvPr/>
        </p:nvSpPr>
        <p:spPr>
          <a:xfrm>
            <a:off x="780356" y="2703252"/>
            <a:ext cx="327044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videos(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TIMEUUID,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TIMESTAMP,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description TEXT,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title TEXT,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uuid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(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26482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2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err="1"/>
              <a:t>Creare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nuova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per </a:t>
            </a:r>
            <a:br>
              <a:rPr lang="en-US" dirty="0"/>
            </a:br>
            <a:r>
              <a:rPr lang="en-US" dirty="0" err="1"/>
              <a:t>memorizzare</a:t>
            </a:r>
            <a:r>
              <a:rPr lang="en-US" dirty="0"/>
              <a:t> video con </a:t>
            </a:r>
            <a:r>
              <a:rPr lang="en-US" dirty="0" err="1"/>
              <a:t>una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composta</a:t>
            </a:r>
            <a:endParaRPr lang="en-US" dirty="0"/>
          </a:p>
          <a:p>
            <a:pPr lvl="2"/>
            <a:r>
              <a:rPr lang="en-US" dirty="0" err="1"/>
              <a:t>videos_by_title_year</a:t>
            </a:r>
            <a:endParaRPr lang="en-US" dirty="0"/>
          </a:p>
          <a:p>
            <a:pPr lvl="2"/>
            <a:r>
              <a:rPr lang="en-US" dirty="0">
                <a:solidFill>
                  <a:srgbClr val="0070C0"/>
                </a:solidFill>
              </a:rPr>
              <a:t>E' </a:t>
            </a:r>
            <a:r>
              <a:rPr lang="en-US" dirty="0" err="1">
                <a:solidFill>
                  <a:srgbClr val="0070C0"/>
                </a:solidFill>
              </a:rPr>
              <a:t>buona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pratica</a:t>
            </a:r>
            <a:r>
              <a:rPr lang="en-US" dirty="0">
                <a:solidFill>
                  <a:srgbClr val="0070C0"/>
                </a:solidFill>
              </a:rPr>
              <a:t> dare </a:t>
            </a:r>
            <a:r>
              <a:rPr lang="en-US" dirty="0" err="1">
                <a:solidFill>
                  <a:srgbClr val="0070C0"/>
                </a:solidFill>
              </a:rPr>
              <a:t>alle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tabelle</a:t>
            </a:r>
            <a:r>
              <a:rPr lang="en-US" dirty="0">
                <a:solidFill>
                  <a:srgbClr val="0070C0"/>
                </a:solidFill>
              </a:rPr>
              <a:t> un </a:t>
            </a:r>
            <a:r>
              <a:rPr lang="en-US" dirty="0" err="1">
                <a:solidFill>
                  <a:srgbClr val="0070C0"/>
                </a:solidFill>
              </a:rPr>
              <a:t>nome</a:t>
            </a:r>
            <a:r>
              <a:rPr lang="en-US" dirty="0">
                <a:solidFill>
                  <a:srgbClr val="0070C0"/>
                </a:solidFill>
              </a:rPr>
              <a:t> 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 err="1">
                <a:solidFill>
                  <a:srgbClr val="0070C0"/>
                </a:solidFill>
              </a:rPr>
              <a:t>che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rispecchi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il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modo</a:t>
            </a:r>
            <a:r>
              <a:rPr lang="en-US" dirty="0">
                <a:solidFill>
                  <a:srgbClr val="0070C0"/>
                </a:solidFill>
              </a:rPr>
              <a:t> di </a:t>
            </a:r>
            <a:r>
              <a:rPr lang="en-US" dirty="0" err="1">
                <a:solidFill>
                  <a:srgbClr val="0070C0"/>
                </a:solidFill>
              </a:rPr>
              <a:t>interrogarle</a:t>
            </a:r>
            <a:endParaRPr lang="en-US" dirty="0">
              <a:solidFill>
                <a:srgbClr val="0070C0"/>
              </a:solidFill>
            </a:endParaRPr>
          </a:p>
          <a:p>
            <a:pPr lvl="2"/>
            <a:r>
              <a:rPr lang="en-US" dirty="0"/>
              <a:t>/root/</a:t>
            </a:r>
            <a:r>
              <a:rPr lang="en-US" dirty="0" err="1"/>
              <a:t>labwork</a:t>
            </a:r>
            <a:r>
              <a:rPr lang="en-US" dirty="0"/>
              <a:t>/exercise-3/videos_by_title_year.csv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qualche</a:t>
            </a:r>
            <a:r>
              <a:rPr lang="en-US" dirty="0"/>
              <a:t> query</a:t>
            </a:r>
          </a:p>
          <a:p>
            <a:pPr lvl="2"/>
            <a:r>
              <a:rPr lang="en-US" dirty="0" err="1"/>
              <a:t>Cercare</a:t>
            </a:r>
            <a:r>
              <a:rPr lang="en-US" dirty="0"/>
              <a:t> un video per </a:t>
            </a:r>
            <a:r>
              <a:rPr lang="en-US" dirty="0" err="1"/>
              <a:t>nome</a:t>
            </a:r>
            <a:r>
              <a:rPr lang="en-US" dirty="0"/>
              <a:t> e anno</a:t>
            </a:r>
          </a:p>
          <a:p>
            <a:pPr lvl="2"/>
            <a:r>
              <a:rPr lang="en-US" dirty="0" err="1"/>
              <a:t>Cercare</a:t>
            </a:r>
            <a:r>
              <a:rPr lang="en-US" dirty="0"/>
              <a:t> video solo per </a:t>
            </a:r>
            <a:r>
              <a:rPr lang="en-US" dirty="0" err="1"/>
              <a:t>nome</a:t>
            </a:r>
            <a:r>
              <a:rPr lang="en-US" dirty="0"/>
              <a:t> o solo per anno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graphicFrame>
        <p:nvGraphicFramePr>
          <p:cNvPr id="5" name="Tabel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50765"/>
              </p:ext>
            </p:extLst>
          </p:nvPr>
        </p:nvGraphicFramePr>
        <p:xfrm>
          <a:off x="5199988" y="1890954"/>
          <a:ext cx="3209376" cy="2207619"/>
        </p:xfrm>
        <a:graphic>
          <a:graphicData uri="http://schemas.openxmlformats.org/drawingml/2006/table">
            <a:tbl>
              <a:tblPr/>
              <a:tblGrid>
                <a:gridCol w="1604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4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 dirty="0" err="1">
                          <a:effectLst/>
                        </a:rPr>
                        <a:t>Column</a:t>
                      </a:r>
                      <a:r>
                        <a:rPr lang="it-IT" sz="1500" b="1" dirty="0">
                          <a:effectLst/>
                        </a:rPr>
                        <a:t> </a:t>
                      </a:r>
                      <a:r>
                        <a:rPr lang="it-IT" sz="1500" b="1" dirty="0" err="1">
                          <a:effectLst/>
                        </a:rPr>
                        <a:t>Name</a:t>
                      </a:r>
                      <a:endParaRPr lang="it-IT" sz="1500" b="1" dirty="0">
                        <a:effectLst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>
                          <a:effectLst/>
                        </a:rPr>
                        <a:t>Data Type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u="sng" dirty="0" err="1">
                          <a:effectLst/>
                          <a:latin typeface="inherit"/>
                        </a:rPr>
                        <a:t>title</a:t>
                      </a:r>
                      <a:endParaRPr lang="it-IT" sz="1500" b="0" u="sng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u="sng" dirty="0" err="1">
                          <a:effectLst/>
                          <a:latin typeface="inherit"/>
                        </a:rPr>
                        <a:t>added_year</a:t>
                      </a:r>
                      <a:endParaRPr lang="it-IT" sz="1500" b="0" u="sng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int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u="none" dirty="0" err="1">
                          <a:effectLst/>
                          <a:latin typeface="inherit"/>
                        </a:rPr>
                        <a:t>added_date</a:t>
                      </a:r>
                      <a:endParaRPr lang="it-IT" sz="1500" b="0" u="none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timestamp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485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description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user_id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uuid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video_id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uuid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57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Chiavi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Primaria</a:t>
            </a:r>
            <a:r>
              <a:rPr lang="en-US" dirty="0"/>
              <a:t>, </a:t>
            </a:r>
            <a:r>
              <a:rPr lang="en-US" dirty="0" err="1"/>
              <a:t>chiave</a:t>
            </a:r>
            <a:r>
              <a:rPr lang="en-US" dirty="0"/>
              <a:t> di </a:t>
            </a:r>
            <a:r>
              <a:rPr lang="en-US" dirty="0" err="1"/>
              <a:t>partizionamento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120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Chiave primaria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319397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Chiave primaria</a:t>
            </a:r>
          </a:p>
          <a:p>
            <a:pPr lvl="1"/>
            <a:r>
              <a:rPr lang="it-IT" dirty="0"/>
              <a:t>Insieme di campi i cui valori identificano la riga all’interno della tabella</a:t>
            </a:r>
          </a:p>
          <a:p>
            <a:pPr lvl="1"/>
            <a:r>
              <a:rPr lang="it-IT" dirty="0"/>
              <a:t>Stessa semantica del modello relazionale</a:t>
            </a:r>
          </a:p>
          <a:p>
            <a:pPr lvl="1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690985" y="3190633"/>
            <a:ext cx="290015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 (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id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name text,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runtime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year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(id)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en-US" sz="1600" dirty="0"/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956" y="3755627"/>
            <a:ext cx="4741829" cy="115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67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41" y="3199278"/>
            <a:ext cx="7872035" cy="2870894"/>
          </a:xfrm>
          <a:prstGeom prst="rect">
            <a:avLst/>
          </a:prstGeom>
        </p:spPr>
      </p:pic>
      <p:sp>
        <p:nvSpPr>
          <p:cNvPr id="6" name="Segnaposto contenuto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/>
          <a:lstStyle/>
          <a:p>
            <a:r>
              <a:rPr lang="it-IT" dirty="0"/>
              <a:t>Le righe sono memorizzate in blocchi detti </a:t>
            </a:r>
            <a:r>
              <a:rPr lang="it-IT" dirty="0">
                <a:solidFill>
                  <a:srgbClr val="FF0000"/>
                </a:solidFill>
              </a:rPr>
              <a:t>partizioni</a:t>
            </a:r>
          </a:p>
          <a:p>
            <a:r>
              <a:rPr lang="it-IT" dirty="0"/>
              <a:t>Le partizioni sono definite sulla base di uno o più campi, definiti </a:t>
            </a:r>
            <a:r>
              <a:rPr lang="it-IT" dirty="0">
                <a:solidFill>
                  <a:srgbClr val="FF0000"/>
                </a:solidFill>
              </a:rPr>
              <a:t>chiave di partizione</a:t>
            </a:r>
          </a:p>
          <a:p>
            <a:pPr lvl="1"/>
            <a:r>
              <a:rPr lang="it-IT" dirty="0"/>
              <a:t>Di default, la chiave primaria funge da chiave di partizione</a:t>
            </a:r>
          </a:p>
          <a:p>
            <a:pPr lvl="1"/>
            <a:endParaRPr lang="it-IT" noProof="0" dirty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Cassandra al </a:t>
            </a:r>
            <a:r>
              <a:rPr lang="en-US" dirty="0" err="1"/>
              <a:t>livello</a:t>
            </a:r>
            <a:r>
              <a:rPr lang="en-US" dirty="0"/>
              <a:t> </a:t>
            </a:r>
            <a:r>
              <a:rPr lang="en-US" dirty="0" err="1"/>
              <a:t>fisico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149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Perchè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concetto</a:t>
            </a:r>
            <a:r>
              <a:rPr lang="en-US" dirty="0"/>
              <a:t> di </a:t>
            </a:r>
            <a:r>
              <a:rPr lang="en-US" dirty="0" err="1"/>
              <a:t>partizione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266" y="3503372"/>
            <a:ext cx="4457185" cy="2474095"/>
          </a:xfrm>
          <a:prstGeom prst="rect">
            <a:avLst/>
          </a:prstGeom>
        </p:spPr>
      </p:pic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partizione</a:t>
            </a:r>
            <a:r>
              <a:rPr lang="en-US" dirty="0"/>
              <a:t> è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blocco</a:t>
            </a:r>
            <a:r>
              <a:rPr lang="en-US" dirty="0"/>
              <a:t> di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distribuito</a:t>
            </a:r>
            <a:endParaRPr lang="en-US" dirty="0"/>
          </a:p>
          <a:p>
            <a:pPr lvl="1"/>
            <a:r>
              <a:rPr lang="en-US" dirty="0"/>
              <a:t>Si </a:t>
            </a:r>
            <a:r>
              <a:rPr lang="en-US" dirty="0" err="1"/>
              <a:t>usa</a:t>
            </a:r>
            <a:r>
              <a:rPr lang="en-US" dirty="0"/>
              <a:t> una </a:t>
            </a:r>
            <a:r>
              <a:rPr lang="en-US" dirty="0" err="1"/>
              <a:t>funzione</a:t>
            </a:r>
            <a:r>
              <a:rPr lang="en-US" dirty="0"/>
              <a:t> di hashing </a:t>
            </a:r>
            <a:r>
              <a:rPr lang="en-US" dirty="0" err="1"/>
              <a:t>sulla</a:t>
            </a:r>
            <a:r>
              <a:rPr lang="en-US" dirty="0"/>
              <a:t> </a:t>
            </a:r>
            <a:r>
              <a:rPr lang="en-US" dirty="0" err="1"/>
              <a:t>chiave</a:t>
            </a:r>
            <a:r>
              <a:rPr lang="en-US" dirty="0"/>
              <a:t> di </a:t>
            </a:r>
            <a:r>
              <a:rPr lang="en-US" dirty="0" err="1"/>
              <a:t>partizione</a:t>
            </a:r>
            <a:r>
              <a:rPr lang="en-US" dirty="0"/>
              <a:t> per </a:t>
            </a:r>
            <a:r>
              <a:rPr lang="en-US" dirty="0" err="1"/>
              <a:t>decidere</a:t>
            </a:r>
            <a:r>
              <a:rPr lang="en-US" dirty="0"/>
              <a:t> in quale </a:t>
            </a:r>
            <a:r>
              <a:rPr lang="en-US" dirty="0" err="1"/>
              <a:t>nodo</a:t>
            </a:r>
            <a:r>
              <a:rPr lang="en-US" dirty="0"/>
              <a:t> </a:t>
            </a:r>
            <a:r>
              <a:rPr lang="en-US" dirty="0" err="1"/>
              <a:t>salvare</a:t>
            </a:r>
            <a:r>
              <a:rPr lang="en-US" dirty="0"/>
              <a:t> la </a:t>
            </a:r>
            <a:r>
              <a:rPr lang="en-US" dirty="0" err="1"/>
              <a:t>partizione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… e </a:t>
            </a:r>
            <a:r>
              <a:rPr lang="en-US" dirty="0" err="1"/>
              <a:t>anche</a:t>
            </a:r>
            <a:r>
              <a:rPr lang="en-US" dirty="0"/>
              <a:t> per </a:t>
            </a:r>
            <a:r>
              <a:rPr lang="en-US" dirty="0" err="1"/>
              <a:t>sapere</a:t>
            </a:r>
            <a:r>
              <a:rPr lang="en-US" dirty="0"/>
              <a:t> quale </a:t>
            </a:r>
            <a:r>
              <a:rPr lang="en-US" dirty="0" err="1"/>
              <a:t>nodo</a:t>
            </a:r>
            <a:r>
              <a:rPr lang="en-US" dirty="0"/>
              <a:t> </a:t>
            </a:r>
            <a:r>
              <a:rPr lang="en-US" dirty="0" err="1"/>
              <a:t>interrogare</a:t>
            </a:r>
            <a:r>
              <a:rPr lang="en-US" dirty="0"/>
              <a:t> per </a:t>
            </a:r>
            <a:r>
              <a:rPr lang="en-US" dirty="0" err="1"/>
              <a:t>ritrovarla</a:t>
            </a:r>
            <a:r>
              <a:rPr lang="en-US" dirty="0"/>
              <a:t> se so la </a:t>
            </a:r>
            <a:r>
              <a:rPr lang="en-US" dirty="0" err="1"/>
              <a:t>chiave</a:t>
            </a:r>
            <a:r>
              <a:rPr lang="en-US" dirty="0"/>
              <a:t> (senza </a:t>
            </a:r>
            <a:r>
              <a:rPr lang="en-US" dirty="0" err="1"/>
              <a:t>doverli</a:t>
            </a:r>
            <a:r>
              <a:rPr lang="en-US" dirty="0"/>
              <a:t> </a:t>
            </a:r>
            <a:r>
              <a:rPr lang="en-US" dirty="0" err="1"/>
              <a:t>interrogare</a:t>
            </a:r>
            <a:r>
              <a:rPr lang="en-US" dirty="0"/>
              <a:t> tutti)</a:t>
            </a:r>
          </a:p>
        </p:txBody>
      </p:sp>
    </p:spTree>
    <p:extLst>
      <p:ext uri="{BB962C8B-B14F-4D97-AF65-F5344CB8AC3E}">
        <p14:creationId xmlns:p14="http://schemas.microsoft.com/office/powerpoint/2010/main" val="1125263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Chiave di partizione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319397"/>
          </a:xfrm>
        </p:spPr>
        <p:txBody>
          <a:bodyPr>
            <a:normAutofit/>
          </a:bodyPr>
          <a:lstStyle/>
          <a:p>
            <a:r>
              <a:rPr lang="it-IT" dirty="0"/>
              <a:t>La chiave di partizione corrisponde alla chiave primaria o ad un suo </a:t>
            </a:r>
            <a:r>
              <a:rPr lang="it-IT" dirty="0">
                <a:solidFill>
                  <a:srgbClr val="FF0000"/>
                </a:solidFill>
              </a:rPr>
              <a:t>sottoinsieme</a:t>
            </a:r>
          </a:p>
          <a:p>
            <a:pPr lvl="1"/>
            <a:r>
              <a:rPr lang="it-IT" dirty="0"/>
              <a:t>Se la chiave di partizionamento è un sottoinsieme </a:t>
            </a:r>
            <a:br>
              <a:rPr lang="it-IT" dirty="0"/>
            </a:br>
            <a:r>
              <a:rPr lang="it-IT" dirty="0"/>
              <a:t>della chiave primaria, </a:t>
            </a:r>
            <a:r>
              <a:rPr lang="it-IT" dirty="0">
                <a:solidFill>
                  <a:srgbClr val="0070C0"/>
                </a:solidFill>
              </a:rPr>
              <a:t>più righe possono essere </a:t>
            </a:r>
            <a:br>
              <a:rPr lang="it-IT" dirty="0">
                <a:solidFill>
                  <a:srgbClr val="0070C0"/>
                </a:solidFill>
              </a:rPr>
            </a:br>
            <a:r>
              <a:rPr lang="it-IT" dirty="0">
                <a:solidFill>
                  <a:srgbClr val="0070C0"/>
                </a:solidFill>
              </a:rPr>
              <a:t>raggruppate nella stessa partizione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21" y="3254114"/>
            <a:ext cx="6925723" cy="3019388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6064738" y="2589403"/>
            <a:ext cx="290015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 (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id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name text,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runtime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year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PRIMARY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b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</a:b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((year), name));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33816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Chiave di partizione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319397"/>
          </a:xfrm>
        </p:spPr>
        <p:txBody>
          <a:bodyPr>
            <a:normAutofit/>
          </a:bodyPr>
          <a:lstStyle/>
          <a:p>
            <a:r>
              <a:rPr lang="it-IT" dirty="0"/>
              <a:t>I campi della chiave primaria che non fanno parte della chiave di partizionamento vengono definite </a:t>
            </a:r>
            <a:r>
              <a:rPr lang="it-IT" dirty="0">
                <a:solidFill>
                  <a:srgbClr val="FF0000"/>
                </a:solidFill>
              </a:rPr>
              <a:t>colonne di raggruppamento </a:t>
            </a:r>
            <a:r>
              <a:rPr lang="it-IT" dirty="0"/>
              <a:t>e </a:t>
            </a:r>
            <a:r>
              <a:rPr lang="it-IT" dirty="0">
                <a:solidFill>
                  <a:srgbClr val="0070C0"/>
                </a:solidFill>
              </a:rPr>
              <a:t>definiscono l’ordine</a:t>
            </a:r>
            <a:r>
              <a:rPr lang="it-IT" dirty="0"/>
              <a:t> con cui le righe sono </a:t>
            </a:r>
            <a:br>
              <a:rPr lang="it-IT" dirty="0"/>
            </a:br>
            <a:r>
              <a:rPr lang="it-IT" dirty="0"/>
              <a:t>memorizzate all’interno della partizione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21" y="3254114"/>
            <a:ext cx="6925723" cy="3019388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6064738" y="2589403"/>
            <a:ext cx="290015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 (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id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name text,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runtime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year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PRIMARY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b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</a:b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((year), name)  );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89915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Colonna di </a:t>
            </a:r>
            <a:r>
              <a:rPr lang="en-US" dirty="0" err="1"/>
              <a:t>raggruppamento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822959" y="2068987"/>
            <a:ext cx="528542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 videos ( </a:t>
            </a:r>
          </a:p>
          <a:p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  id </a:t>
            </a:r>
            <a:r>
              <a:rPr lang="en-US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  name text, </a:t>
            </a:r>
          </a:p>
          <a:p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  runtime </a:t>
            </a:r>
            <a:r>
              <a:rPr lang="en-US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  year </a:t>
            </a:r>
            <a:r>
              <a:rPr lang="en-US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b="1" dirty="0">
                <a:solidFill>
                  <a:srgbClr val="374C51"/>
                </a:solidFill>
                <a:latin typeface="Courier New" panose="02070309020205020404" pitchFamily="49" charset="0"/>
              </a:rPr>
              <a:t>PRIMARY</a:t>
            </a:r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 ((year), name) ) </a:t>
            </a:r>
          </a:p>
          <a:p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WITH CLUSTERING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ORDER</a:t>
            </a:r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BY</a:t>
            </a:r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 (name </a:t>
            </a:r>
            <a:r>
              <a:rPr lang="en-US" b="1" dirty="0">
                <a:solidFill>
                  <a:srgbClr val="374C51"/>
                </a:solidFill>
                <a:latin typeface="Courier New" panose="02070309020205020404" pitchFamily="49" charset="0"/>
              </a:rPr>
              <a:t>DESC</a:t>
            </a:r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en-US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4431938"/>
            <a:ext cx="7586405" cy="92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351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Colonna di </a:t>
            </a:r>
            <a:r>
              <a:rPr lang="en-US" dirty="0" err="1"/>
              <a:t>raggruppamento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L'ordinamento</a:t>
            </a:r>
            <a:r>
              <a:rPr lang="en-US" dirty="0"/>
              <a:t> </a:t>
            </a:r>
            <a:r>
              <a:rPr lang="en-US" dirty="0" err="1"/>
              <a:t>delle</a:t>
            </a:r>
            <a:r>
              <a:rPr lang="en-US" dirty="0"/>
              <a:t> </a:t>
            </a:r>
            <a:r>
              <a:rPr lang="en-US" dirty="0" err="1"/>
              <a:t>righe</a:t>
            </a:r>
            <a:r>
              <a:rPr lang="en-US" dirty="0"/>
              <a:t> </a:t>
            </a:r>
            <a:r>
              <a:rPr lang="en-US" dirty="0" err="1"/>
              <a:t>consente</a:t>
            </a:r>
            <a:r>
              <a:rPr lang="en-US" dirty="0"/>
              <a:t> di </a:t>
            </a:r>
            <a:r>
              <a:rPr lang="en-US" dirty="0" err="1"/>
              <a:t>effettuare</a:t>
            </a:r>
            <a:r>
              <a:rPr lang="en-US" dirty="0"/>
              <a:t> query di range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 rotWithShape="1">
          <a:blip r:embed="rId2"/>
          <a:srcRect b="9731"/>
          <a:stretch/>
        </p:blipFill>
        <p:spPr>
          <a:xfrm>
            <a:off x="822959" y="3857414"/>
            <a:ext cx="7586405" cy="1803510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822959" y="2417050"/>
            <a:ext cx="282481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year = </a:t>
            </a:r>
            <a:r>
              <a:rPr lang="en-US" sz="1600" dirty="0">
                <a:solidFill>
                  <a:srgbClr val="009999"/>
                </a:solidFill>
                <a:latin typeface="Courier New" panose="02070309020205020404" pitchFamily="49" charset="0"/>
              </a:rPr>
              <a:t>2014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AND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name &gt;=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'Interstellar'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88527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Morale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E’ possibile sfruttare i concetti di chiave primaria e chiave di partizione per definire le tabelle in funzione…</a:t>
            </a:r>
          </a:p>
          <a:p>
            <a:pPr lvl="1"/>
            <a:r>
              <a:rPr lang="it-IT" dirty="0"/>
              <a:t>… non solo dei dati che deve contenere…</a:t>
            </a:r>
          </a:p>
          <a:p>
            <a:pPr lvl="1"/>
            <a:r>
              <a:rPr lang="it-IT"/>
              <a:t>… ma </a:t>
            </a:r>
            <a:r>
              <a:rPr lang="it-IT" dirty="0"/>
              <a:t>anche di come li voglio interrogare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5229653" y="2926826"/>
            <a:ext cx="35173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 (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id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name text,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runtime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year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PRIMARY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((year), </a:t>
            </a:r>
            <a:r>
              <a:rPr lang="en-US" sz="1600">
                <a:solidFill>
                  <a:srgbClr val="374C51"/>
                </a:solidFill>
                <a:latin typeface="Courier New" panose="02070309020205020404" pitchFamily="49" charset="0"/>
              </a:rPr>
              <a:t>id));</a:t>
            </a:r>
            <a:endParaRPr lang="en-US" sz="1600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384767" y="3398166"/>
            <a:ext cx="290015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 (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id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name text,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runtime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year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PRIMARY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(id));</a:t>
            </a:r>
            <a:endParaRPr lang="en-US" sz="1600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3179660" y="4633630"/>
            <a:ext cx="42578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 (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id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name text,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runtime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year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PRIMARY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((year), name, id));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274062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3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err="1"/>
              <a:t>Creare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nuova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per </a:t>
            </a:r>
            <a:br>
              <a:rPr lang="en-US" dirty="0"/>
            </a:br>
            <a:r>
              <a:rPr lang="en-US" dirty="0" err="1"/>
              <a:t>memorizzare</a:t>
            </a:r>
            <a:r>
              <a:rPr lang="en-US" dirty="0"/>
              <a:t> video con </a:t>
            </a:r>
            <a:r>
              <a:rPr lang="en-US" dirty="0" err="1"/>
              <a:t>una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composta</a:t>
            </a:r>
            <a:r>
              <a:rPr lang="en-US" dirty="0"/>
              <a:t> </a:t>
            </a:r>
            <a:r>
              <a:rPr lang="en-US" dirty="0" err="1"/>
              <a:t>diversa</a:t>
            </a:r>
            <a:endParaRPr lang="en-US" dirty="0"/>
          </a:p>
          <a:p>
            <a:pPr lvl="2"/>
            <a:r>
              <a:rPr lang="en-US" dirty="0" err="1"/>
              <a:t>Obiettivo</a:t>
            </a:r>
            <a:r>
              <a:rPr lang="en-US" dirty="0"/>
              <a:t>: </a:t>
            </a:r>
            <a:r>
              <a:rPr lang="en-US" dirty="0" err="1">
                <a:solidFill>
                  <a:srgbClr val="0070C0"/>
                </a:solidFill>
              </a:rPr>
              <a:t>interrogare</a:t>
            </a:r>
            <a:r>
              <a:rPr lang="en-US" dirty="0">
                <a:solidFill>
                  <a:srgbClr val="0070C0"/>
                </a:solidFill>
              </a:rPr>
              <a:t> la </a:t>
            </a:r>
            <a:r>
              <a:rPr lang="en-US" dirty="0" err="1">
                <a:solidFill>
                  <a:srgbClr val="0070C0"/>
                </a:solidFill>
              </a:rPr>
              <a:t>tabella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sulla</a:t>
            </a:r>
            <a:r>
              <a:rPr lang="en-US" dirty="0">
                <a:solidFill>
                  <a:srgbClr val="0070C0"/>
                </a:solidFill>
              </a:rPr>
              <a:t> base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 err="1">
                <a:solidFill>
                  <a:srgbClr val="0070C0"/>
                </a:solidFill>
              </a:rPr>
              <a:t>dei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campi</a:t>
            </a:r>
            <a:r>
              <a:rPr lang="en-US" dirty="0">
                <a:solidFill>
                  <a:srgbClr val="0070C0"/>
                </a:solidFill>
              </a:rPr>
              <a:t> tag e year e fare range queries </a:t>
            </a:r>
            <a:r>
              <a:rPr lang="en-US" dirty="0" err="1">
                <a:solidFill>
                  <a:srgbClr val="0070C0"/>
                </a:solidFill>
              </a:rPr>
              <a:t>su</a:t>
            </a:r>
            <a:r>
              <a:rPr lang="en-US" dirty="0">
                <a:solidFill>
                  <a:srgbClr val="0070C0"/>
                </a:solidFill>
              </a:rPr>
              <a:t> year</a:t>
            </a:r>
          </a:p>
          <a:p>
            <a:pPr lvl="2"/>
            <a:r>
              <a:rPr lang="en-US" dirty="0" err="1"/>
              <a:t>videos_by_tag_year</a:t>
            </a:r>
            <a:endParaRPr lang="en-US" dirty="0"/>
          </a:p>
          <a:p>
            <a:pPr lvl="2"/>
            <a:r>
              <a:rPr lang="en-US" dirty="0"/>
              <a:t>/root/</a:t>
            </a:r>
            <a:r>
              <a:rPr lang="en-US" dirty="0" err="1"/>
              <a:t>labwork</a:t>
            </a:r>
            <a:r>
              <a:rPr lang="en-US" dirty="0"/>
              <a:t>/exercise-4/videos_by_tag_year.csv</a:t>
            </a:r>
          </a:p>
          <a:p>
            <a:pPr lvl="2"/>
            <a:r>
              <a:rPr lang="en-US" dirty="0"/>
              <a:t>ATTENZIONE: un video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associate a </a:t>
            </a:r>
            <a:r>
              <a:rPr lang="en-US" dirty="0" err="1"/>
              <a:t>tanti</a:t>
            </a:r>
            <a:r>
              <a:rPr lang="en-US" dirty="0"/>
              <a:t> tag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263951"/>
              </p:ext>
            </p:extLst>
          </p:nvPr>
        </p:nvGraphicFramePr>
        <p:xfrm>
          <a:off x="5421046" y="1959847"/>
          <a:ext cx="2945714" cy="2513512"/>
        </p:xfrm>
        <a:graphic>
          <a:graphicData uri="http://schemas.openxmlformats.org/drawingml/2006/table">
            <a:tbl>
              <a:tblPr/>
              <a:tblGrid>
                <a:gridCol w="1472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2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>
                          <a:effectLst/>
                        </a:rPr>
                        <a:t>Column Name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>
                          <a:effectLst/>
                        </a:rPr>
                        <a:t>Data Type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u="sng" dirty="0">
                          <a:effectLst/>
                          <a:latin typeface="inherit"/>
                        </a:rPr>
                        <a:t>tag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added_year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int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u="sng" dirty="0" err="1">
                          <a:effectLst/>
                          <a:latin typeface="inherit"/>
                        </a:rPr>
                        <a:t>video_id</a:t>
                      </a:r>
                      <a:endParaRPr lang="it-IT" sz="1500" b="0" u="sng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timeuuid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added_date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timestamp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description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title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user_id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uuid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7213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3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822960" y="1859498"/>
            <a:ext cx="3836307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videos_by_tag_year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( 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tag TEXT,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TIMESTAMP,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title TEXT,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description TEXT,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uuid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TIMEUUID,</a:t>
            </a:r>
          </a:p>
          <a:p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((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tag))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en-US" sz="1400" dirty="0"/>
          </a:p>
          <a:p>
            <a:endParaRPr lang="en-US" sz="1400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822960" y="4321711"/>
            <a:ext cx="369620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Posso</a:t>
            </a:r>
            <a:r>
              <a:rPr lang="en-US" sz="1600" dirty="0"/>
              <a:t> </a:t>
            </a:r>
            <a:r>
              <a:rPr lang="en-US" sz="1600" dirty="0" err="1"/>
              <a:t>avere</a:t>
            </a:r>
            <a:r>
              <a:rPr lang="en-US" sz="1600" dirty="0"/>
              <a:t> </a:t>
            </a:r>
            <a:r>
              <a:rPr lang="en-US" sz="1600" dirty="0" err="1"/>
              <a:t>più</a:t>
            </a:r>
            <a:r>
              <a:rPr lang="en-US" sz="1600" dirty="0"/>
              <a:t> tag per lo </a:t>
            </a:r>
            <a:r>
              <a:rPr lang="en-US" sz="1600" dirty="0" err="1"/>
              <a:t>stesso</a:t>
            </a:r>
            <a:r>
              <a:rPr lang="en-US" sz="1600" dirty="0"/>
              <a:t> video?</a:t>
            </a:r>
          </a:p>
          <a:p>
            <a:r>
              <a:rPr lang="en-US" sz="1600" dirty="0" err="1"/>
              <a:t>Posso</a:t>
            </a:r>
            <a:r>
              <a:rPr lang="en-US" sz="1600" dirty="0"/>
              <a:t> </a:t>
            </a:r>
            <a:r>
              <a:rPr lang="en-US" sz="1600" dirty="0" err="1"/>
              <a:t>interrogare</a:t>
            </a:r>
            <a:r>
              <a:rPr lang="en-US" sz="1600" dirty="0"/>
              <a:t> per tag e year?</a:t>
            </a:r>
          </a:p>
          <a:p>
            <a:r>
              <a:rPr lang="en-US" sz="1600" dirty="0" err="1"/>
              <a:t>Posso</a:t>
            </a:r>
            <a:r>
              <a:rPr lang="en-US" sz="1600" dirty="0"/>
              <a:t> fare query di range </a:t>
            </a:r>
            <a:r>
              <a:rPr lang="en-US" sz="1600" dirty="0" err="1"/>
              <a:t>su</a:t>
            </a:r>
            <a:r>
              <a:rPr lang="en-US" sz="1600" dirty="0"/>
              <a:t> </a:t>
            </a:r>
            <a:r>
              <a:rPr lang="en-US" sz="1600" dirty="0" err="1"/>
              <a:t>added_year</a:t>
            </a:r>
            <a:r>
              <a:rPr lang="en-US" sz="1600" dirty="0"/>
              <a:t>?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742990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3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822960" y="4366898"/>
            <a:ext cx="503400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Posso</a:t>
            </a:r>
            <a:r>
              <a:rPr lang="en-US" sz="1600" dirty="0"/>
              <a:t> </a:t>
            </a:r>
            <a:r>
              <a:rPr lang="en-US" sz="1600" dirty="0" err="1"/>
              <a:t>avere</a:t>
            </a:r>
            <a:r>
              <a:rPr lang="en-US" sz="1600" dirty="0"/>
              <a:t> </a:t>
            </a:r>
            <a:r>
              <a:rPr lang="en-US" sz="1600" dirty="0" err="1"/>
              <a:t>più</a:t>
            </a:r>
            <a:r>
              <a:rPr lang="en-US" sz="1600" dirty="0"/>
              <a:t> tag per lo </a:t>
            </a:r>
            <a:r>
              <a:rPr lang="en-US" sz="1600" dirty="0" err="1"/>
              <a:t>stesso</a:t>
            </a:r>
            <a:r>
              <a:rPr lang="en-US" sz="1600" dirty="0"/>
              <a:t> video? </a:t>
            </a:r>
          </a:p>
          <a:p>
            <a:r>
              <a:rPr lang="en-US" sz="1600" dirty="0" err="1"/>
              <a:t>Posso</a:t>
            </a:r>
            <a:r>
              <a:rPr lang="en-US" sz="1600" dirty="0"/>
              <a:t> </a:t>
            </a:r>
            <a:r>
              <a:rPr lang="en-US" sz="1600" dirty="0" err="1"/>
              <a:t>interrogare</a:t>
            </a:r>
            <a:r>
              <a:rPr lang="en-US" sz="1600" dirty="0"/>
              <a:t> per tag e year? </a:t>
            </a:r>
          </a:p>
          <a:p>
            <a:r>
              <a:rPr lang="en-US" sz="1600" dirty="0" err="1"/>
              <a:t>Posso</a:t>
            </a:r>
            <a:r>
              <a:rPr lang="en-US" sz="1600" dirty="0"/>
              <a:t> fare query di range </a:t>
            </a:r>
            <a:r>
              <a:rPr lang="en-US" sz="1600" dirty="0" err="1"/>
              <a:t>su</a:t>
            </a:r>
            <a:r>
              <a:rPr lang="en-US" sz="1600" dirty="0"/>
              <a:t> </a:t>
            </a:r>
            <a:r>
              <a:rPr lang="en-US" sz="1600" dirty="0" err="1"/>
              <a:t>added_year</a:t>
            </a:r>
            <a:r>
              <a:rPr lang="en-US" sz="1600" dirty="0"/>
              <a:t>? </a:t>
            </a:r>
          </a:p>
          <a:p>
            <a:r>
              <a:rPr lang="en-US" sz="1600" dirty="0" err="1"/>
              <a:t>Posso</a:t>
            </a:r>
            <a:r>
              <a:rPr lang="en-US" sz="1600" dirty="0"/>
              <a:t> </a:t>
            </a:r>
            <a:r>
              <a:rPr lang="en-US" sz="1600" dirty="0" err="1"/>
              <a:t>avere</a:t>
            </a:r>
            <a:r>
              <a:rPr lang="en-US" sz="1600" dirty="0"/>
              <a:t> </a:t>
            </a:r>
            <a:r>
              <a:rPr lang="en-US" sz="1600" dirty="0" err="1"/>
              <a:t>più</a:t>
            </a:r>
            <a:r>
              <a:rPr lang="en-US" sz="1600" dirty="0"/>
              <a:t> video </a:t>
            </a:r>
            <a:r>
              <a:rPr lang="en-US" sz="1600" dirty="0" err="1"/>
              <a:t>nello</a:t>
            </a:r>
            <a:r>
              <a:rPr lang="en-US" sz="1600" dirty="0"/>
              <a:t> </a:t>
            </a:r>
            <a:r>
              <a:rPr lang="en-US" sz="1600" dirty="0" err="1"/>
              <a:t>stesso</a:t>
            </a:r>
            <a:r>
              <a:rPr lang="en-US" sz="1600" dirty="0"/>
              <a:t> anno con lo </a:t>
            </a:r>
            <a:r>
              <a:rPr lang="en-US" sz="1600" dirty="0" err="1"/>
              <a:t>stesso</a:t>
            </a:r>
            <a:r>
              <a:rPr lang="en-US" sz="1600" dirty="0"/>
              <a:t> tag? 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3950140" y="2250067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 </a:t>
            </a:r>
            <a:endParaRPr lang="en-US" sz="1600" dirty="0"/>
          </a:p>
        </p:txBody>
      </p:sp>
      <p:sp>
        <p:nvSpPr>
          <p:cNvPr id="12" name="CasellaDiTesto 11"/>
          <p:cNvSpPr txBox="1"/>
          <p:nvPr/>
        </p:nvSpPr>
        <p:spPr>
          <a:xfrm>
            <a:off x="822960" y="1928745"/>
            <a:ext cx="501772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videos_by_tag_year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( 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tag TEXT,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TIMESTAMP,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title TEXT,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description TEXT,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uuid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TIMEUUID,</a:t>
            </a:r>
          </a:p>
          <a:p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((tag),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 WITH CLUSTERING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ORDER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BY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DESC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261330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3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822960" y="4366898"/>
            <a:ext cx="517988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Posso</a:t>
            </a:r>
            <a:r>
              <a:rPr lang="en-US" sz="1600" dirty="0"/>
              <a:t> </a:t>
            </a:r>
            <a:r>
              <a:rPr lang="en-US" sz="1600" dirty="0" err="1"/>
              <a:t>avere</a:t>
            </a:r>
            <a:r>
              <a:rPr lang="en-US" sz="1600" dirty="0"/>
              <a:t> </a:t>
            </a:r>
            <a:r>
              <a:rPr lang="en-US" sz="1600" dirty="0" err="1"/>
              <a:t>più</a:t>
            </a:r>
            <a:r>
              <a:rPr lang="en-US" sz="1600" dirty="0"/>
              <a:t> tag per lo </a:t>
            </a:r>
            <a:r>
              <a:rPr lang="en-US" sz="1600" dirty="0" err="1"/>
              <a:t>stesso</a:t>
            </a:r>
            <a:r>
              <a:rPr lang="en-US" sz="1600" dirty="0"/>
              <a:t> video? </a:t>
            </a:r>
          </a:p>
          <a:p>
            <a:r>
              <a:rPr lang="en-US" sz="1600" dirty="0" err="1"/>
              <a:t>Posso</a:t>
            </a:r>
            <a:r>
              <a:rPr lang="en-US" sz="1600" dirty="0"/>
              <a:t> </a:t>
            </a:r>
            <a:r>
              <a:rPr lang="en-US" sz="1600" dirty="0" err="1"/>
              <a:t>interrogare</a:t>
            </a:r>
            <a:r>
              <a:rPr lang="en-US" sz="1600" dirty="0"/>
              <a:t> per tag e year? </a:t>
            </a:r>
          </a:p>
          <a:p>
            <a:r>
              <a:rPr lang="en-US" sz="1600" dirty="0" err="1"/>
              <a:t>Posso</a:t>
            </a:r>
            <a:r>
              <a:rPr lang="en-US" sz="1600" dirty="0"/>
              <a:t> fare query di range </a:t>
            </a:r>
            <a:r>
              <a:rPr lang="en-US" sz="1600" dirty="0" err="1"/>
              <a:t>su</a:t>
            </a:r>
            <a:r>
              <a:rPr lang="en-US" sz="1600" dirty="0"/>
              <a:t> </a:t>
            </a:r>
            <a:r>
              <a:rPr lang="en-US" sz="1600" dirty="0" err="1"/>
              <a:t>added_year</a:t>
            </a:r>
            <a:r>
              <a:rPr lang="en-US" sz="1600" dirty="0"/>
              <a:t>? </a:t>
            </a:r>
          </a:p>
          <a:p>
            <a:r>
              <a:rPr lang="en-US" sz="1600" dirty="0" err="1"/>
              <a:t>Posso</a:t>
            </a:r>
            <a:r>
              <a:rPr lang="en-US" sz="1600" dirty="0"/>
              <a:t> </a:t>
            </a:r>
            <a:r>
              <a:rPr lang="en-US" sz="1600" dirty="0" err="1"/>
              <a:t>avere</a:t>
            </a:r>
            <a:r>
              <a:rPr lang="en-US" sz="1600" dirty="0"/>
              <a:t> </a:t>
            </a:r>
            <a:r>
              <a:rPr lang="en-US" sz="1600" dirty="0" err="1"/>
              <a:t>più</a:t>
            </a:r>
            <a:r>
              <a:rPr lang="en-US" sz="1600" dirty="0"/>
              <a:t> video </a:t>
            </a:r>
            <a:r>
              <a:rPr lang="en-US" sz="1600" dirty="0" err="1"/>
              <a:t>nello</a:t>
            </a:r>
            <a:r>
              <a:rPr lang="en-US" sz="1600" dirty="0"/>
              <a:t> </a:t>
            </a:r>
            <a:r>
              <a:rPr lang="en-US" sz="1600" dirty="0" err="1"/>
              <a:t>stesso</a:t>
            </a:r>
            <a:r>
              <a:rPr lang="en-US" sz="1600" dirty="0"/>
              <a:t> anno con lo </a:t>
            </a:r>
            <a:r>
              <a:rPr lang="en-US" sz="1600" dirty="0" err="1"/>
              <a:t>stesso</a:t>
            </a:r>
            <a:r>
              <a:rPr lang="en-US" sz="1600" dirty="0"/>
              <a:t> tag? 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3950140" y="2250067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 </a:t>
            </a:r>
            <a:endParaRPr lang="en-US" sz="1600" dirty="0"/>
          </a:p>
        </p:txBody>
      </p:sp>
      <p:sp>
        <p:nvSpPr>
          <p:cNvPr id="12" name="CasellaDiTesto 11"/>
          <p:cNvSpPr txBox="1"/>
          <p:nvPr/>
        </p:nvSpPr>
        <p:spPr>
          <a:xfrm>
            <a:off x="822960" y="1928745"/>
            <a:ext cx="501772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videos_by_tag_year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( 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tag TEXT,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TIMESTAMP,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title TEXT,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description TEXT,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uuid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TIMEUUID,</a:t>
            </a:r>
          </a:p>
          <a:p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((tag),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 WITH CLUSTERING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ORDER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BY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DESC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959790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3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3950140" y="2250067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 </a:t>
            </a:r>
            <a:endParaRPr lang="en-US" sz="1600" dirty="0"/>
          </a:p>
        </p:txBody>
      </p:sp>
      <p:sp>
        <p:nvSpPr>
          <p:cNvPr id="12" name="CasellaDiTesto 11"/>
          <p:cNvSpPr txBox="1"/>
          <p:nvPr/>
        </p:nvSpPr>
        <p:spPr>
          <a:xfrm>
            <a:off x="822960" y="1985306"/>
            <a:ext cx="4530471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COPY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videos_by_tag_year</a:t>
            </a:r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'/root/</a:t>
            </a:r>
            <a:r>
              <a:rPr lang="en-US" sz="1400" dirty="0" err="1">
                <a:solidFill>
                  <a:srgbClr val="DD1144"/>
                </a:solidFill>
                <a:latin typeface="inherit"/>
              </a:rPr>
              <a:t>labwork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/exercise-4/videos_by_tag_year.csv'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WITH HEADER=</a:t>
            </a:r>
            <a:r>
              <a:rPr lang="en-US" sz="1400" dirty="0">
                <a:solidFill>
                  <a:srgbClr val="008080"/>
                </a:solidFill>
                <a:latin typeface="Courier New" panose="02070309020205020404" pitchFamily="49" charset="0"/>
              </a:rPr>
              <a:t>true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videos_by_tag_year</a:t>
            </a:r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tag=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'trailer'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AND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2015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 </a:t>
            </a:r>
          </a:p>
          <a:p>
            <a:endParaRPr lang="en-US" sz="1400" b="1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videos_by_tag_year</a:t>
            </a:r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tag=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en-US" sz="1400" dirty="0" err="1">
                <a:solidFill>
                  <a:srgbClr val="DD1144"/>
                </a:solidFill>
                <a:latin typeface="inherit"/>
              </a:rPr>
              <a:t>cql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AND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&lt;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2015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 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videos_by_tag_year</a:t>
            </a:r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&lt;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2015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ALLOW FILTERING;</a:t>
            </a: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videos_by_tag_year</a:t>
            </a:r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tag=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en-US" sz="1400" dirty="0" err="1">
                <a:solidFill>
                  <a:srgbClr val="DD1144"/>
                </a:solidFill>
                <a:latin typeface="inherit"/>
              </a:rPr>
              <a:t>cql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42006621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Tipi di </a:t>
            </a:r>
            <a:r>
              <a:rPr lang="en-US" dirty="0" err="1"/>
              <a:t>dato</a:t>
            </a:r>
            <a:r>
              <a:rPr lang="en-US" dirty="0"/>
              <a:t> </a:t>
            </a:r>
            <a:r>
              <a:rPr lang="en-US" dirty="0" err="1"/>
              <a:t>complessi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8144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DDL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Rimuovere</a:t>
            </a:r>
            <a:r>
              <a:rPr lang="en-US" dirty="0"/>
              <a:t> </a:t>
            </a:r>
            <a:r>
              <a:rPr lang="en-US" dirty="0" err="1"/>
              <a:t>tutte</a:t>
            </a:r>
            <a:r>
              <a:rPr lang="en-US" dirty="0"/>
              <a:t> le </a:t>
            </a:r>
            <a:r>
              <a:rPr lang="en-US" dirty="0" err="1"/>
              <a:t>righe</a:t>
            </a:r>
            <a:r>
              <a:rPr lang="en-US" dirty="0"/>
              <a:t> in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tabella</a:t>
            </a:r>
            <a:endParaRPr lang="en-US" dirty="0"/>
          </a:p>
          <a:p>
            <a:endParaRPr lang="en-US" sz="1100" dirty="0"/>
          </a:p>
          <a:p>
            <a:r>
              <a:rPr lang="en-US" dirty="0" err="1"/>
              <a:t>Aggiungere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colonna</a:t>
            </a:r>
            <a:endParaRPr lang="en-US" dirty="0"/>
          </a:p>
          <a:p>
            <a:endParaRPr lang="en-US" sz="1050" dirty="0"/>
          </a:p>
          <a:p>
            <a:r>
              <a:rPr lang="en-US" dirty="0" err="1"/>
              <a:t>Rimuovere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colona</a:t>
            </a:r>
            <a:endParaRPr lang="en-US" dirty="0"/>
          </a:p>
          <a:p>
            <a:endParaRPr lang="en-US" sz="1400" dirty="0"/>
          </a:p>
          <a:p>
            <a:r>
              <a:rPr lang="en-US" u="sng" dirty="0"/>
              <a:t>Non </a:t>
            </a:r>
            <a:r>
              <a:rPr lang="en-US" u="sng" dirty="0" err="1"/>
              <a:t>si</a:t>
            </a:r>
            <a:r>
              <a:rPr lang="en-US" u="sng" dirty="0"/>
              <a:t> </a:t>
            </a:r>
            <a:r>
              <a:rPr lang="en-US" u="sng" dirty="0" err="1"/>
              <a:t>può</a:t>
            </a:r>
            <a:r>
              <a:rPr lang="en-US" u="sng" dirty="0"/>
              <a:t> </a:t>
            </a:r>
            <a:r>
              <a:rPr lang="en-US" u="sng" dirty="0" err="1"/>
              <a:t>modificare</a:t>
            </a:r>
            <a:r>
              <a:rPr lang="en-US" u="sng" dirty="0"/>
              <a:t> la </a:t>
            </a:r>
            <a:r>
              <a:rPr lang="en-US" u="sng" dirty="0" err="1"/>
              <a:t>chiave</a:t>
            </a:r>
            <a:r>
              <a:rPr lang="en-US" u="sng" dirty="0"/>
              <a:t> </a:t>
            </a:r>
            <a:r>
              <a:rPr lang="en-US" u="sng" dirty="0" err="1"/>
              <a:t>primaria</a:t>
            </a:r>
            <a:endParaRPr lang="en-US" u="sng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917227" y="2234152"/>
            <a:ext cx="5561138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TRUNCATE</a:t>
            </a:r>
            <a:r>
              <a:rPr lang="it-IT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table1;</a:t>
            </a:r>
          </a:p>
          <a:p>
            <a:endParaRPr lang="it-IT" sz="16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endParaRPr lang="it-IT" sz="16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ALTER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table1 </a:t>
            </a:r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ADD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another_column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text;</a:t>
            </a:r>
          </a:p>
          <a:p>
            <a:endParaRPr lang="en-US" sz="16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endParaRPr lang="en-US" sz="16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ALTER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table1 </a:t>
            </a:r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DROP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another_column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072882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Collezioni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 </a:t>
            </a:r>
            <a:r>
              <a:rPr lang="en-US" dirty="0" err="1"/>
              <a:t>collezioni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colonne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contengono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valori</a:t>
            </a:r>
            <a:endParaRPr lang="en-US" dirty="0"/>
          </a:p>
          <a:p>
            <a:r>
              <a:rPr lang="en-US" dirty="0" err="1"/>
              <a:t>Progettate</a:t>
            </a:r>
            <a:r>
              <a:rPr lang="en-US" dirty="0"/>
              <a:t> per </a:t>
            </a:r>
            <a:r>
              <a:rPr lang="en-US" dirty="0" err="1"/>
              <a:t>memorizzare</a:t>
            </a:r>
            <a:r>
              <a:rPr lang="en-US" dirty="0"/>
              <a:t> un </a:t>
            </a:r>
            <a:r>
              <a:rPr lang="en-US" dirty="0" err="1"/>
              <a:t>insieme</a:t>
            </a:r>
            <a:r>
              <a:rPr lang="en-US" dirty="0"/>
              <a:t> </a:t>
            </a:r>
            <a:r>
              <a:rPr lang="en-US" dirty="0" err="1"/>
              <a:t>limitato</a:t>
            </a:r>
            <a:r>
              <a:rPr lang="en-US" dirty="0"/>
              <a:t> di </a:t>
            </a:r>
            <a:r>
              <a:rPr lang="en-US" dirty="0" err="1"/>
              <a:t>dati</a:t>
            </a:r>
            <a:endParaRPr lang="en-US" dirty="0"/>
          </a:p>
          <a:p>
            <a:r>
              <a:rPr lang="en-US" dirty="0"/>
              <a:t>Se interrogate, </a:t>
            </a:r>
            <a:r>
              <a:rPr lang="en-US" dirty="0" err="1"/>
              <a:t>restituiscono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contenuto</a:t>
            </a:r>
            <a:r>
              <a:rPr lang="en-US" dirty="0"/>
              <a:t> </a:t>
            </a:r>
            <a:r>
              <a:rPr lang="en-US" dirty="0" err="1"/>
              <a:t>intero</a:t>
            </a:r>
            <a:endParaRPr lang="en-US" dirty="0"/>
          </a:p>
          <a:p>
            <a:r>
              <a:rPr lang="en-US" dirty="0"/>
              <a:t>Non </a:t>
            </a:r>
            <a:r>
              <a:rPr lang="en-US" dirty="0" err="1"/>
              <a:t>innestabili</a:t>
            </a:r>
            <a:r>
              <a:rPr lang="en-US" dirty="0"/>
              <a:t> (non </a:t>
            </a:r>
            <a:r>
              <a:rPr lang="en-US" dirty="0" err="1"/>
              <a:t>esistono</a:t>
            </a:r>
            <a:r>
              <a:rPr lang="en-US" dirty="0"/>
              <a:t> </a:t>
            </a:r>
            <a:r>
              <a:rPr lang="en-US" dirty="0" err="1"/>
              <a:t>collezioni</a:t>
            </a:r>
            <a:r>
              <a:rPr lang="en-US" dirty="0"/>
              <a:t> di </a:t>
            </a:r>
            <a:r>
              <a:rPr lang="en-US" dirty="0" err="1"/>
              <a:t>collezioni</a:t>
            </a:r>
            <a:r>
              <a:rPr lang="en-US" dirty="0"/>
              <a:t>)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1879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Tipi di </a:t>
            </a:r>
            <a:r>
              <a:rPr lang="en-US" dirty="0" err="1"/>
              <a:t>collezione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</a:t>
            </a:r>
          </a:p>
          <a:p>
            <a:pPr lvl="1"/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univoci</a:t>
            </a:r>
            <a:r>
              <a:rPr lang="en-US" dirty="0"/>
              <a:t> e </a:t>
            </a:r>
            <a:r>
              <a:rPr lang="en-US" dirty="0" err="1"/>
              <a:t>ordinati</a:t>
            </a:r>
            <a:endParaRPr lang="en-US" dirty="0"/>
          </a:p>
          <a:p>
            <a:r>
              <a:rPr lang="en-US" dirty="0"/>
              <a:t>List</a:t>
            </a:r>
          </a:p>
          <a:p>
            <a:pPr lvl="1"/>
            <a:r>
              <a:rPr lang="en-US" dirty="0" err="1"/>
              <a:t>Valori</a:t>
            </a:r>
            <a:r>
              <a:rPr lang="en-US" dirty="0"/>
              <a:t> non-</a:t>
            </a:r>
            <a:r>
              <a:rPr lang="en-US" dirty="0" err="1"/>
              <a:t>univoci</a:t>
            </a:r>
            <a:r>
              <a:rPr lang="en-US" dirty="0"/>
              <a:t> e </a:t>
            </a:r>
            <a:r>
              <a:rPr lang="en-US" dirty="0" err="1"/>
              <a:t>ordinati</a:t>
            </a:r>
            <a:endParaRPr lang="en-US" dirty="0"/>
          </a:p>
          <a:p>
            <a:r>
              <a:rPr lang="en-US" dirty="0"/>
              <a:t>Map</a:t>
            </a:r>
          </a:p>
          <a:p>
            <a:pPr lvl="1"/>
            <a:r>
              <a:rPr lang="en-US" dirty="0" err="1"/>
              <a:t>Coppie</a:t>
            </a:r>
            <a:r>
              <a:rPr lang="en-US" dirty="0"/>
              <a:t> </a:t>
            </a:r>
            <a:r>
              <a:rPr lang="en-US" dirty="0" err="1"/>
              <a:t>chiave-valore</a:t>
            </a:r>
            <a:r>
              <a:rPr lang="en-US" dirty="0"/>
              <a:t> ordinate </a:t>
            </a:r>
            <a:br>
              <a:rPr lang="en-US" dirty="0"/>
            </a:br>
            <a:r>
              <a:rPr lang="en-US" dirty="0"/>
              <a:t>per </a:t>
            </a:r>
            <a:r>
              <a:rPr lang="en-US" dirty="0" err="1"/>
              <a:t>chiave</a:t>
            </a:r>
            <a:r>
              <a:rPr lang="en-US" dirty="0"/>
              <a:t> (</a:t>
            </a:r>
            <a:r>
              <a:rPr lang="en-US" dirty="0" err="1"/>
              <a:t>univoca</a:t>
            </a:r>
            <a:r>
              <a:rPr lang="en-US" dirty="0"/>
              <a:t>)</a:t>
            </a:r>
          </a:p>
          <a:p>
            <a:r>
              <a:rPr lang="en-US" dirty="0"/>
              <a:t>UDT (user-defined type)</a:t>
            </a:r>
          </a:p>
          <a:p>
            <a:pPr lvl="1"/>
            <a:r>
              <a:rPr lang="en-US" dirty="0" err="1"/>
              <a:t>Permette</a:t>
            </a:r>
            <a:r>
              <a:rPr lang="en-US" dirty="0"/>
              <a:t> di </a:t>
            </a:r>
            <a:r>
              <a:rPr lang="en-US" dirty="0" err="1"/>
              <a:t>creare</a:t>
            </a:r>
            <a:r>
              <a:rPr lang="en-US" dirty="0"/>
              <a:t> </a:t>
            </a:r>
            <a:r>
              <a:rPr lang="en-US" dirty="0" err="1"/>
              <a:t>colonne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complesse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5604465" y="1845734"/>
            <a:ext cx="2762295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SET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&lt;TEXT&gt;</a:t>
            </a:r>
          </a:p>
          <a:p>
            <a:endParaRPr lang="it-IT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LIST&lt;TEXT&gt;</a:t>
            </a:r>
          </a:p>
          <a:p>
            <a:endParaRPr lang="it-IT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MAP&lt;TEXT,INT&gt;</a:t>
            </a:r>
          </a:p>
          <a:p>
            <a:endParaRPr lang="it-IT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TYPE address (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street text,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city text,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zip_code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phones </a:t>
            </a:r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&lt;text&gt;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); </a:t>
            </a:r>
          </a:p>
          <a:p>
            <a:endParaRPr lang="en-US" sz="1400" b="1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TYPE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full_name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first_name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last_name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it-IT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endParaRPr lang="it-IT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924481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Come </a:t>
            </a:r>
            <a:r>
              <a:rPr lang="en-US" dirty="0" err="1"/>
              <a:t>usare</a:t>
            </a:r>
            <a:r>
              <a:rPr lang="en-US" dirty="0"/>
              <a:t> UDT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La </a:t>
            </a:r>
            <a:r>
              <a:rPr lang="en-US" dirty="0" err="1"/>
              <a:t>clausola</a:t>
            </a:r>
            <a:r>
              <a:rPr lang="en-US" dirty="0"/>
              <a:t> frozen </a:t>
            </a:r>
            <a:r>
              <a:rPr lang="en-US" dirty="0" err="1"/>
              <a:t>consente</a:t>
            </a:r>
            <a:r>
              <a:rPr lang="en-US" dirty="0"/>
              <a:t> di </a:t>
            </a:r>
            <a:r>
              <a:rPr lang="en-US" dirty="0" err="1"/>
              <a:t>considerare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campo come un </a:t>
            </a:r>
            <a:r>
              <a:rPr lang="en-US" dirty="0" err="1"/>
              <a:t>blocco</a:t>
            </a:r>
            <a:r>
              <a:rPr lang="en-US" dirty="0"/>
              <a:t> </a:t>
            </a:r>
            <a:r>
              <a:rPr lang="en-US" dirty="0" err="1"/>
              <a:t>atomico</a:t>
            </a:r>
            <a:endParaRPr lang="en-US" dirty="0"/>
          </a:p>
          <a:p>
            <a:pPr lvl="1"/>
            <a:r>
              <a:rPr lang="en-US" dirty="0"/>
              <a:t>Per </a:t>
            </a:r>
            <a:r>
              <a:rPr lang="en-US" dirty="0" err="1"/>
              <a:t>aggiornare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porzione</a:t>
            </a:r>
            <a:r>
              <a:rPr lang="en-US" dirty="0"/>
              <a:t> del campo (e.g., solo </a:t>
            </a:r>
            <a:r>
              <a:rPr lang="en-US" dirty="0" err="1"/>
              <a:t>first_name</a:t>
            </a:r>
            <a:r>
              <a:rPr lang="en-US" dirty="0"/>
              <a:t>) </a:t>
            </a:r>
            <a:r>
              <a:rPr lang="en-US" dirty="0" err="1"/>
              <a:t>bisogna</a:t>
            </a:r>
            <a:r>
              <a:rPr lang="en-US" dirty="0"/>
              <a:t> </a:t>
            </a:r>
            <a:r>
              <a:rPr lang="en-US" dirty="0" err="1"/>
              <a:t>aggiornare</a:t>
            </a:r>
            <a:r>
              <a:rPr lang="en-US" dirty="0"/>
              <a:t> </a:t>
            </a:r>
            <a:r>
              <a:rPr lang="en-US" dirty="0" err="1"/>
              <a:t>tutto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campo</a:t>
            </a:r>
          </a:p>
          <a:p>
            <a:pPr lvl="1"/>
            <a:r>
              <a:rPr lang="en-US" dirty="0"/>
              <a:t>Il campo è </a:t>
            </a:r>
            <a:r>
              <a:rPr lang="en-US" dirty="0" err="1"/>
              <a:t>trattato</a:t>
            </a:r>
            <a:r>
              <a:rPr lang="en-US" dirty="0"/>
              <a:t> come un BLOB</a:t>
            </a:r>
          </a:p>
          <a:p>
            <a:pPr lvl="1"/>
            <a:r>
              <a:rPr lang="en-US" dirty="0"/>
              <a:t>E' </a:t>
            </a:r>
            <a:r>
              <a:rPr lang="en-US" dirty="0" err="1"/>
              <a:t>possibile</a:t>
            </a:r>
            <a:r>
              <a:rPr lang="en-US" dirty="0"/>
              <a:t> non </a:t>
            </a:r>
            <a:r>
              <a:rPr lang="en-US" dirty="0" err="1"/>
              <a:t>specificare</a:t>
            </a:r>
            <a:r>
              <a:rPr lang="en-US" dirty="0"/>
              <a:t> la </a:t>
            </a:r>
            <a:r>
              <a:rPr lang="en-US" dirty="0" err="1"/>
              <a:t>clausola</a:t>
            </a:r>
            <a:r>
              <a:rPr lang="en-US" dirty="0"/>
              <a:t> e </a:t>
            </a:r>
            <a:r>
              <a:rPr lang="en-US" dirty="0" err="1"/>
              <a:t>lasciare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campo non-frozen</a:t>
            </a:r>
          </a:p>
          <a:p>
            <a:pPr lvl="1"/>
            <a:r>
              <a:rPr lang="en-US" dirty="0"/>
              <a:t>Il campo DEVE </a:t>
            </a:r>
            <a:r>
              <a:rPr lang="en-US" dirty="0" err="1"/>
              <a:t>essere</a:t>
            </a:r>
            <a:r>
              <a:rPr lang="en-US" dirty="0"/>
              <a:t> frozen se lo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vuole</a:t>
            </a:r>
            <a:r>
              <a:rPr lang="en-US" dirty="0"/>
              <a:t> </a:t>
            </a:r>
            <a:r>
              <a:rPr lang="en-US" dirty="0" err="1"/>
              <a:t>utilizzare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primaria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822959" y="1930575"/>
            <a:ext cx="4695516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users (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id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uuid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first_name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frozen &lt;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full_name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&gt;,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direct_reports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&lt;frozen &lt;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full_name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&gt;&gt;,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addresses map&lt;text, frozen &lt;address&gt;&gt;, </a:t>
            </a:r>
          </a:p>
          <a:p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((id))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391176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Contatori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</a:t>
            </a:r>
            <a:r>
              <a:rPr lang="en-US" dirty="0" err="1"/>
              <a:t>contatori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un </a:t>
            </a:r>
            <a:r>
              <a:rPr lang="en-US" dirty="0" err="1"/>
              <a:t>tipo</a:t>
            </a:r>
            <a:r>
              <a:rPr lang="en-US" dirty="0"/>
              <a:t> di </a:t>
            </a:r>
            <a:r>
              <a:rPr lang="en-US" dirty="0" err="1"/>
              <a:t>dato</a:t>
            </a:r>
            <a:r>
              <a:rPr lang="en-US" dirty="0"/>
              <a:t> </a:t>
            </a:r>
            <a:r>
              <a:rPr lang="en-US" dirty="0" err="1"/>
              <a:t>speciale</a:t>
            </a:r>
            <a:r>
              <a:rPr lang="en-US" dirty="0"/>
              <a:t> </a:t>
            </a:r>
            <a:r>
              <a:rPr lang="en-US" dirty="0" err="1"/>
              <a:t>offerto</a:t>
            </a:r>
            <a:r>
              <a:rPr lang="en-US" dirty="0"/>
              <a:t> da Cassandra</a:t>
            </a:r>
          </a:p>
          <a:p>
            <a:pPr lvl="1"/>
            <a:r>
              <a:rPr lang="en-US" dirty="0" err="1"/>
              <a:t>Permettono</a:t>
            </a:r>
            <a:r>
              <a:rPr lang="en-US" dirty="0"/>
              <a:t> di </a:t>
            </a:r>
            <a:r>
              <a:rPr lang="en-US" dirty="0" err="1"/>
              <a:t>evitare</a:t>
            </a:r>
            <a:r>
              <a:rPr lang="en-US" dirty="0"/>
              <a:t> </a:t>
            </a:r>
            <a:r>
              <a:rPr lang="en-US" dirty="0" err="1"/>
              <a:t>problemi</a:t>
            </a:r>
            <a:r>
              <a:rPr lang="en-US" dirty="0"/>
              <a:t> di </a:t>
            </a:r>
            <a:r>
              <a:rPr lang="en-US" dirty="0" err="1"/>
              <a:t>concorrenza</a:t>
            </a:r>
            <a:r>
              <a:rPr lang="en-US" dirty="0"/>
              <a:t> </a:t>
            </a:r>
            <a:r>
              <a:rPr lang="en-US" dirty="0" err="1"/>
              <a:t>nell'update</a:t>
            </a:r>
            <a:r>
              <a:rPr lang="en-US" dirty="0"/>
              <a:t> di un campo</a:t>
            </a:r>
          </a:p>
          <a:p>
            <a:pPr lvl="1"/>
            <a:r>
              <a:rPr lang="en-US" dirty="0" err="1"/>
              <a:t>Inizializzati</a:t>
            </a:r>
            <a:r>
              <a:rPr lang="en-US" dirty="0"/>
              <a:t> a 0</a:t>
            </a:r>
          </a:p>
          <a:p>
            <a:pPr lvl="1"/>
            <a:r>
              <a:rPr lang="en-US" dirty="0"/>
              <a:t>Si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aumentare</a:t>
            </a:r>
            <a:r>
              <a:rPr lang="en-US" dirty="0"/>
              <a:t> o </a:t>
            </a:r>
            <a:r>
              <a:rPr lang="en-US" dirty="0" err="1"/>
              <a:t>decrementare</a:t>
            </a:r>
            <a:r>
              <a:rPr lang="en-US" dirty="0"/>
              <a:t>, ma non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possono</a:t>
            </a:r>
            <a:r>
              <a:rPr lang="en-US" dirty="0"/>
              <a:t> fare </a:t>
            </a:r>
            <a:r>
              <a:rPr lang="en-US" dirty="0" err="1"/>
              <a:t>assegnamenti</a:t>
            </a:r>
            <a:r>
              <a:rPr lang="en-US" dirty="0"/>
              <a:t> </a:t>
            </a:r>
            <a:r>
              <a:rPr lang="en-US" dirty="0" err="1"/>
              <a:t>diretti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di </a:t>
            </a:r>
            <a:r>
              <a:rPr lang="en-US" dirty="0" err="1"/>
              <a:t>essi</a:t>
            </a:r>
            <a:endParaRPr lang="en-US" dirty="0"/>
          </a:p>
          <a:p>
            <a:pPr lvl="1"/>
            <a:r>
              <a:rPr lang="en-US" dirty="0"/>
              <a:t>Se </a:t>
            </a:r>
            <a:r>
              <a:rPr lang="en-US" dirty="0" err="1"/>
              <a:t>usati</a:t>
            </a:r>
            <a:r>
              <a:rPr lang="en-US" dirty="0"/>
              <a:t>, non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esistere</a:t>
            </a:r>
            <a:r>
              <a:rPr lang="en-US" dirty="0"/>
              <a:t> </a:t>
            </a:r>
            <a:r>
              <a:rPr lang="en-US" dirty="0" err="1"/>
              <a:t>colonne</a:t>
            </a:r>
            <a:r>
              <a:rPr lang="en-US" dirty="0"/>
              <a:t> non-</a:t>
            </a: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siano</a:t>
            </a:r>
            <a:r>
              <a:rPr lang="en-US" dirty="0"/>
              <a:t> </a:t>
            </a:r>
            <a:r>
              <a:rPr lang="en-US" dirty="0" err="1"/>
              <a:t>contatori</a:t>
            </a:r>
            <a:endParaRPr lang="en-US" dirty="0"/>
          </a:p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822959" y="3954950"/>
            <a:ext cx="38876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moo_counts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cow_name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moo_count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counter, 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((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cow_name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))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); </a:t>
            </a:r>
          </a:p>
          <a:p>
            <a:endParaRPr lang="en-US" sz="1600" b="1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UPDATE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moo_counts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moo_count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moo_count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+ </a:t>
            </a:r>
            <a:r>
              <a:rPr lang="en-US" sz="1600" dirty="0">
                <a:solidFill>
                  <a:srgbClr val="009999"/>
                </a:solidFill>
                <a:latin typeface="Courier New" panose="02070309020205020404" pitchFamily="49" charset="0"/>
              </a:rPr>
              <a:t>8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cow_name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'Betsy'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897424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4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Obiettivo</a:t>
            </a:r>
            <a:r>
              <a:rPr lang="en-US" dirty="0"/>
              <a:t>: </a:t>
            </a:r>
            <a:r>
              <a:rPr lang="en-US" dirty="0" err="1"/>
              <a:t>estendere</a:t>
            </a:r>
            <a:r>
              <a:rPr lang="en-US" dirty="0"/>
              <a:t> la </a:t>
            </a:r>
            <a:r>
              <a:rPr lang="en-US" dirty="0" err="1"/>
              <a:t>tabella</a:t>
            </a:r>
            <a:r>
              <a:rPr lang="en-US" dirty="0"/>
              <a:t> </a:t>
            </a:r>
            <a:r>
              <a:rPr lang="en-US" dirty="0" err="1"/>
              <a:t>originale</a:t>
            </a:r>
            <a:r>
              <a:rPr lang="en-US" dirty="0"/>
              <a:t> </a:t>
            </a:r>
            <a:r>
              <a:rPr lang="en-US" i="1" dirty="0"/>
              <a:t>videos</a:t>
            </a:r>
            <a:r>
              <a:rPr lang="en-US" dirty="0"/>
              <a:t> con:</a:t>
            </a:r>
          </a:p>
          <a:p>
            <a:pPr lvl="1"/>
            <a:r>
              <a:rPr lang="en-US" dirty="0"/>
              <a:t>Una </a:t>
            </a:r>
            <a:r>
              <a:rPr lang="en-US" dirty="0" err="1"/>
              <a:t>colonna</a:t>
            </a:r>
            <a:r>
              <a:rPr lang="en-US" dirty="0"/>
              <a:t> </a:t>
            </a:r>
            <a:r>
              <a:rPr lang="en-US" i="1" dirty="0"/>
              <a:t>tags </a:t>
            </a:r>
            <a:r>
              <a:rPr lang="en-US" dirty="0"/>
              <a:t>come </a:t>
            </a:r>
            <a:r>
              <a:rPr lang="en-US" dirty="0" err="1"/>
              <a:t>collezione</a:t>
            </a:r>
            <a:r>
              <a:rPr lang="en-US" dirty="0"/>
              <a:t> di </a:t>
            </a:r>
            <a:r>
              <a:rPr lang="en-US" dirty="0" err="1"/>
              <a:t>stringhe</a:t>
            </a:r>
            <a:endParaRPr lang="en-US" dirty="0"/>
          </a:p>
          <a:p>
            <a:pPr lvl="2"/>
            <a:r>
              <a:rPr lang="en-US" dirty="0" err="1"/>
              <a:t>Troncare</a:t>
            </a:r>
            <a:r>
              <a:rPr lang="en-US" dirty="0"/>
              <a:t> la </a:t>
            </a:r>
            <a:r>
              <a:rPr lang="en-US" dirty="0" err="1"/>
              <a:t>tabella</a:t>
            </a:r>
            <a:r>
              <a:rPr lang="en-US" dirty="0"/>
              <a:t> e </a:t>
            </a:r>
            <a:r>
              <a:rPr lang="en-US" dirty="0" err="1"/>
              <a:t>ripopolarla</a:t>
            </a:r>
            <a:r>
              <a:rPr lang="en-US" dirty="0"/>
              <a:t> </a:t>
            </a:r>
            <a:r>
              <a:rPr lang="en-US" dirty="0" err="1"/>
              <a:t>caricando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comprendono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tag</a:t>
            </a:r>
          </a:p>
          <a:p>
            <a:pPr lvl="2"/>
            <a:r>
              <a:rPr lang="en-US" dirty="0"/>
              <a:t>Fonte: /root/</a:t>
            </a:r>
            <a:r>
              <a:rPr lang="en-US" dirty="0" err="1"/>
              <a:t>labwork</a:t>
            </a:r>
            <a:r>
              <a:rPr lang="en-US" dirty="0"/>
              <a:t>/exercise-5/videos.csv</a:t>
            </a:r>
          </a:p>
          <a:p>
            <a:pPr lvl="1"/>
            <a:r>
              <a:rPr lang="en-US" dirty="0"/>
              <a:t>Una </a:t>
            </a:r>
            <a:r>
              <a:rPr lang="en-US" dirty="0" err="1"/>
              <a:t>colonna</a:t>
            </a:r>
            <a:r>
              <a:rPr lang="en-US" dirty="0"/>
              <a:t> </a:t>
            </a:r>
            <a:r>
              <a:rPr lang="en-US" i="1" dirty="0" err="1"/>
              <a:t>video_encoding</a:t>
            </a:r>
            <a:r>
              <a:rPr lang="en-US" i="1" dirty="0"/>
              <a:t> </a:t>
            </a:r>
            <a:r>
              <a:rPr lang="en-US" dirty="0"/>
              <a:t>di </a:t>
            </a:r>
            <a:r>
              <a:rPr lang="en-US" dirty="0" err="1"/>
              <a:t>tipo</a:t>
            </a:r>
            <a:r>
              <a:rPr lang="en-US" dirty="0"/>
              <a:t> UDT e </a:t>
            </a:r>
            <a:r>
              <a:rPr lang="en-US" dirty="0" err="1"/>
              <a:t>così</a:t>
            </a:r>
            <a:r>
              <a:rPr lang="en-US" dirty="0"/>
              <a:t> </a:t>
            </a:r>
            <a:r>
              <a:rPr lang="en-US" dirty="0" err="1"/>
              <a:t>composta</a:t>
            </a:r>
            <a:endParaRPr lang="en-US" dirty="0"/>
          </a:p>
          <a:p>
            <a:pPr lvl="2"/>
            <a:r>
              <a:rPr lang="en-US" dirty="0" err="1"/>
              <a:t>Utilizzare</a:t>
            </a:r>
            <a:r>
              <a:rPr lang="en-US" dirty="0"/>
              <a:t> </a:t>
            </a:r>
            <a:r>
              <a:rPr lang="en-US" dirty="0" err="1"/>
              <a:t>sempre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commando copy per </a:t>
            </a:r>
            <a:r>
              <a:rPr lang="en-US" dirty="0" err="1"/>
              <a:t>popolare</a:t>
            </a:r>
            <a:r>
              <a:rPr lang="en-US" dirty="0"/>
              <a:t> </a:t>
            </a:r>
            <a:r>
              <a:rPr lang="en-US" dirty="0" err="1"/>
              <a:t>solamente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nuova</a:t>
            </a:r>
            <a:r>
              <a:rPr lang="en-US" dirty="0"/>
              <a:t> </a:t>
            </a:r>
            <a:r>
              <a:rPr lang="en-US" dirty="0" err="1"/>
              <a:t>colonna</a:t>
            </a:r>
            <a:endParaRPr lang="en-US" dirty="0"/>
          </a:p>
          <a:p>
            <a:pPr lvl="2"/>
            <a:r>
              <a:rPr lang="en-US" dirty="0"/>
              <a:t>Fonte: /root/</a:t>
            </a:r>
            <a:r>
              <a:rPr lang="en-US" dirty="0" err="1"/>
              <a:t>labwork</a:t>
            </a:r>
            <a:r>
              <a:rPr lang="en-US" dirty="0"/>
              <a:t>/exercise-5/videos_encoding.csv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graphicFrame>
        <p:nvGraphicFramePr>
          <p:cNvPr id="5" name="Tabel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652992"/>
              </p:ext>
            </p:extLst>
          </p:nvPr>
        </p:nvGraphicFramePr>
        <p:xfrm>
          <a:off x="3202739" y="4162865"/>
          <a:ext cx="3057146" cy="1570945"/>
        </p:xfrm>
        <a:graphic>
          <a:graphicData uri="http://schemas.openxmlformats.org/drawingml/2006/table">
            <a:tbl>
              <a:tblPr/>
              <a:tblGrid>
                <a:gridCol w="1528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 dirty="0">
                          <a:effectLst/>
                        </a:rPr>
                        <a:t>Field </a:t>
                      </a:r>
                      <a:r>
                        <a:rPr lang="it-IT" sz="1500" b="1" dirty="0" err="1">
                          <a:effectLst/>
                        </a:rPr>
                        <a:t>Name</a:t>
                      </a:r>
                      <a:endParaRPr lang="it-IT" sz="1500" b="1" dirty="0">
                        <a:effectLst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>
                          <a:effectLst/>
                        </a:rPr>
                        <a:t>Data Type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bit_rates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set&lt;text&gt;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>
                          <a:effectLst/>
                          <a:latin typeface="inherit"/>
                        </a:rPr>
                        <a:t>encoding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height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int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width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int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4197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Eseguire</a:t>
            </a:r>
            <a:r>
              <a:rPr lang="en-US" dirty="0"/>
              <a:t> script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Uno script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contenere</a:t>
            </a:r>
            <a:r>
              <a:rPr lang="en-US" dirty="0"/>
              <a:t> </a:t>
            </a:r>
            <a:r>
              <a:rPr lang="en-US" dirty="0" err="1"/>
              <a:t>tante</a:t>
            </a:r>
            <a:r>
              <a:rPr lang="en-US" dirty="0"/>
              <a:t> </a:t>
            </a:r>
            <a:r>
              <a:rPr lang="en-US" dirty="0" err="1"/>
              <a:t>istruzioni</a:t>
            </a:r>
            <a:r>
              <a:rPr lang="en-US" dirty="0"/>
              <a:t> CQL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822959" y="2403835"/>
            <a:ext cx="2448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374C51"/>
                </a:solidFill>
                <a:latin typeface="Courier New" panose="02070309020205020404" pitchFamily="49" charset="0"/>
              </a:rPr>
              <a:t>SOURCE </a:t>
            </a:r>
            <a:r>
              <a:rPr lang="it-IT" sz="1600" dirty="0">
                <a:solidFill>
                  <a:srgbClr val="DD1144"/>
                </a:solidFill>
                <a:latin typeface="inherit"/>
              </a:rPr>
              <a:t>'./</a:t>
            </a:r>
            <a:r>
              <a:rPr lang="it-IT" sz="1600" dirty="0" err="1">
                <a:solidFill>
                  <a:srgbClr val="DD1144"/>
                </a:solidFill>
                <a:latin typeface="inherit"/>
              </a:rPr>
              <a:t>myscript.cql</a:t>
            </a:r>
            <a:r>
              <a:rPr lang="it-IT" sz="16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it-IT" sz="16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870329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5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Obiettivo</a:t>
            </a:r>
            <a:r>
              <a:rPr lang="en-US" dirty="0"/>
              <a:t>: </a:t>
            </a:r>
            <a:r>
              <a:rPr lang="en-US" dirty="0" err="1"/>
              <a:t>creare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</a:t>
            </a:r>
            <a:r>
              <a:rPr lang="en-US" i="1" dirty="0" err="1"/>
              <a:t>videos_count_by_tag</a:t>
            </a:r>
            <a:r>
              <a:rPr lang="en-US" i="1" dirty="0"/>
              <a:t> </a:t>
            </a:r>
            <a:r>
              <a:rPr lang="en-US" dirty="0"/>
              <a:t>con un </a:t>
            </a:r>
            <a:r>
              <a:rPr lang="en-US" dirty="0" err="1"/>
              <a:t>contatore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conteggi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numero</a:t>
            </a:r>
            <a:r>
              <a:rPr lang="en-US" dirty="0"/>
              <a:t> di video a cui è </a:t>
            </a:r>
            <a:r>
              <a:rPr lang="en-US" dirty="0" err="1"/>
              <a:t>assegnato</a:t>
            </a:r>
            <a:r>
              <a:rPr lang="en-US" dirty="0"/>
              <a:t> un </a:t>
            </a:r>
            <a:r>
              <a:rPr lang="en-US" dirty="0" err="1"/>
              <a:t>determinato</a:t>
            </a:r>
            <a:r>
              <a:rPr lang="en-US" dirty="0"/>
              <a:t> tag</a:t>
            </a:r>
          </a:p>
          <a:p>
            <a:pPr lvl="1"/>
            <a:r>
              <a:rPr lang="en-US" dirty="0"/>
              <a:t>Fonte: /root/</a:t>
            </a:r>
            <a:r>
              <a:rPr lang="en-US" dirty="0" err="1"/>
              <a:t>labwork</a:t>
            </a:r>
            <a:r>
              <a:rPr lang="en-US" dirty="0"/>
              <a:t>/exercise-6/</a:t>
            </a:r>
            <a:r>
              <a:rPr lang="en-US" dirty="0" err="1"/>
              <a:t>videos_count_by_tag.cql</a:t>
            </a:r>
            <a:endParaRPr lang="en-US" dirty="0"/>
          </a:p>
          <a:p>
            <a:pPr lvl="2"/>
            <a:r>
              <a:rPr lang="en-US" dirty="0" err="1"/>
              <a:t>Notare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file è .</a:t>
            </a:r>
            <a:r>
              <a:rPr lang="en-US" dirty="0" err="1"/>
              <a:t>cql</a:t>
            </a:r>
            <a:r>
              <a:rPr lang="en-US" dirty="0"/>
              <a:t>, non .csv</a:t>
            </a:r>
          </a:p>
          <a:p>
            <a:pPr lvl="2"/>
            <a:r>
              <a:rPr lang="en-US" dirty="0" err="1"/>
              <a:t>Notare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file </a:t>
            </a:r>
            <a:r>
              <a:rPr lang="en-US" dirty="0" err="1"/>
              <a:t>contiene</a:t>
            </a:r>
            <a:r>
              <a:rPr lang="en-US" dirty="0"/>
              <a:t> solo update, </a:t>
            </a:r>
            <a:r>
              <a:rPr lang="en-US" dirty="0" err="1"/>
              <a:t>nessuna</a:t>
            </a:r>
            <a:r>
              <a:rPr lang="en-US" dirty="0"/>
              <a:t> insert</a:t>
            </a:r>
          </a:p>
          <a:p>
            <a:pPr lvl="1"/>
            <a:r>
              <a:rPr lang="en-US" dirty="0"/>
              <a:t>Prima di </a:t>
            </a:r>
            <a:r>
              <a:rPr lang="en-US" dirty="0" err="1"/>
              <a:t>creare</a:t>
            </a:r>
            <a:r>
              <a:rPr lang="en-US" dirty="0"/>
              <a:t> la </a:t>
            </a:r>
            <a:r>
              <a:rPr lang="en-US" dirty="0" err="1"/>
              <a:t>tabella</a:t>
            </a:r>
            <a:r>
              <a:rPr lang="en-US" dirty="0"/>
              <a:t>, </a:t>
            </a:r>
            <a:r>
              <a:rPr lang="en-US" dirty="0" err="1"/>
              <a:t>verificare</a:t>
            </a:r>
            <a:r>
              <a:rPr lang="en-US" dirty="0"/>
              <a:t> le </a:t>
            </a:r>
            <a:r>
              <a:rPr lang="en-US" dirty="0" err="1"/>
              <a:t>colonne</a:t>
            </a:r>
            <a:r>
              <a:rPr lang="en-US" dirty="0"/>
              <a:t> </a:t>
            </a:r>
            <a:r>
              <a:rPr lang="en-US" dirty="0" err="1"/>
              <a:t>presenti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file .</a:t>
            </a:r>
            <a:r>
              <a:rPr lang="en-US" dirty="0" err="1"/>
              <a:t>cql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4876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Modellazione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7705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Modellazione</a:t>
            </a:r>
            <a:r>
              <a:rPr lang="en-US" dirty="0"/>
              <a:t> </a:t>
            </a:r>
            <a:r>
              <a:rPr lang="en-US" dirty="0" err="1"/>
              <a:t>relazionale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726" y="1845734"/>
            <a:ext cx="6360266" cy="422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1660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Query: </a:t>
            </a:r>
            <a:r>
              <a:rPr lang="en-US" dirty="0" err="1"/>
              <a:t>commenti</a:t>
            </a:r>
            <a:r>
              <a:rPr lang="en-US" dirty="0"/>
              <a:t> di un video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8" y="1918972"/>
            <a:ext cx="7543802" cy="1869378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822958" y="3969961"/>
            <a:ext cx="450475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comment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JOIN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comments 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ON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videos.id =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comments.video_id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title =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'Interstellar'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29446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Query: </a:t>
            </a:r>
            <a:r>
              <a:rPr lang="en-US" dirty="0" err="1"/>
              <a:t>commenti</a:t>
            </a:r>
            <a:r>
              <a:rPr lang="en-US" dirty="0"/>
              <a:t> di un video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879715"/>
            <a:ext cx="7543802" cy="1977699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8" y="4624013"/>
            <a:ext cx="7543802" cy="896294"/>
          </a:xfrm>
          <a:prstGeom prst="rect">
            <a:avLst/>
          </a:prstGeom>
        </p:spPr>
      </p:pic>
      <p:pic>
        <p:nvPicPr>
          <p:cNvPr id="7" name="Immagin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8" y="4339733"/>
            <a:ext cx="7543802" cy="25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1559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153" y="1765642"/>
            <a:ext cx="6175210" cy="3331601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Query: </a:t>
            </a:r>
            <a:r>
              <a:rPr lang="en-US" dirty="0" err="1"/>
              <a:t>commenti</a:t>
            </a:r>
            <a:r>
              <a:rPr lang="en-US" dirty="0"/>
              <a:t> di un </a:t>
            </a:r>
            <a:r>
              <a:rPr lang="en-US" dirty="0" err="1"/>
              <a:t>utente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822959" y="4791876"/>
            <a:ext cx="42578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comment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users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JOIN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comments 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ON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users.id =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comments.user_id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user.login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'emotions'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569021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Modellazione</a:t>
            </a:r>
            <a:r>
              <a:rPr lang="en-US" dirty="0"/>
              <a:t> in Cassandra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Cassandra non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possono</a:t>
            </a:r>
            <a:r>
              <a:rPr lang="en-US" dirty="0"/>
              <a:t> fare join</a:t>
            </a:r>
          </a:p>
          <a:p>
            <a:pPr lvl="1"/>
            <a:r>
              <a:rPr lang="en-US" dirty="0" err="1"/>
              <a:t>Soluzione</a:t>
            </a:r>
            <a:r>
              <a:rPr lang="en-US" dirty="0"/>
              <a:t>: </a:t>
            </a:r>
            <a:r>
              <a:rPr lang="en-US" dirty="0" err="1"/>
              <a:t>denormalizzare</a:t>
            </a:r>
            <a:r>
              <a:rPr lang="en-US" dirty="0"/>
              <a:t>!</a:t>
            </a:r>
          </a:p>
          <a:p>
            <a:r>
              <a:rPr lang="en-US" dirty="0"/>
              <a:t>Come </a:t>
            </a:r>
            <a:r>
              <a:rPr lang="en-US" dirty="0" err="1"/>
              <a:t>denormalizzare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Dipende</a:t>
            </a:r>
            <a:r>
              <a:rPr lang="en-US" dirty="0"/>
              <a:t> </a:t>
            </a:r>
            <a:r>
              <a:rPr lang="en-US" dirty="0" err="1"/>
              <a:t>fondamentalmente</a:t>
            </a:r>
            <a:r>
              <a:rPr lang="en-US" dirty="0"/>
              <a:t> </a:t>
            </a:r>
            <a:r>
              <a:rPr lang="en-US"/>
              <a:t>dalle</a:t>
            </a:r>
            <a:r>
              <a:rPr lang="en-US" dirty="0"/>
              <a:t> query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vogliono</a:t>
            </a:r>
            <a:r>
              <a:rPr lang="en-US" dirty="0"/>
              <a:t> fare</a:t>
            </a:r>
          </a:p>
          <a:p>
            <a:r>
              <a:rPr lang="en-US" dirty="0"/>
              <a:t>Se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vogliono</a:t>
            </a:r>
            <a:r>
              <a:rPr lang="en-US" dirty="0"/>
              <a:t> fare </a:t>
            </a:r>
            <a:r>
              <a:rPr lang="en-US" dirty="0" err="1"/>
              <a:t>tante</a:t>
            </a:r>
            <a:r>
              <a:rPr lang="en-US" dirty="0"/>
              <a:t> query diverse?</a:t>
            </a:r>
          </a:p>
          <a:p>
            <a:pPr lvl="1"/>
            <a:r>
              <a:rPr lang="en-US" dirty="0"/>
              <a:t>Q1: </a:t>
            </a:r>
            <a:r>
              <a:rPr lang="en-US" dirty="0" err="1"/>
              <a:t>cerca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commenti</a:t>
            </a:r>
            <a:r>
              <a:rPr lang="en-US" dirty="0"/>
              <a:t> </a:t>
            </a:r>
            <a:r>
              <a:rPr lang="en-US" dirty="0" err="1"/>
              <a:t>fatti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un video</a:t>
            </a:r>
          </a:p>
          <a:p>
            <a:pPr lvl="1"/>
            <a:r>
              <a:rPr lang="en-US" dirty="0"/>
              <a:t>Q2: </a:t>
            </a:r>
            <a:r>
              <a:rPr lang="en-US" dirty="0" err="1"/>
              <a:t>cerca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commenti</a:t>
            </a:r>
            <a:r>
              <a:rPr lang="en-US" dirty="0"/>
              <a:t> </a:t>
            </a:r>
            <a:r>
              <a:rPr lang="en-US" dirty="0" err="1"/>
              <a:t>fatti</a:t>
            </a:r>
            <a:r>
              <a:rPr lang="en-US" dirty="0"/>
              <a:t> da un </a:t>
            </a:r>
            <a:r>
              <a:rPr lang="en-US" dirty="0" err="1"/>
              <a:t>utente</a:t>
            </a:r>
            <a:endParaRPr lang="en-US" dirty="0"/>
          </a:p>
          <a:p>
            <a:pPr lvl="1"/>
            <a:r>
              <a:rPr lang="en-US" dirty="0" err="1"/>
              <a:t>Soluzione</a:t>
            </a:r>
            <a:r>
              <a:rPr lang="en-US" dirty="0"/>
              <a:t>: </a:t>
            </a:r>
            <a:r>
              <a:rPr lang="en-US" dirty="0" err="1"/>
              <a:t>duplicare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commenti</a:t>
            </a:r>
            <a:r>
              <a:rPr lang="en-US" dirty="0"/>
              <a:t> in </a:t>
            </a:r>
            <a:r>
              <a:rPr lang="en-US" dirty="0" err="1"/>
              <a:t>tabelle</a:t>
            </a:r>
            <a:r>
              <a:rPr lang="en-US" dirty="0"/>
              <a:t> diverse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361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Query: </a:t>
            </a:r>
            <a:r>
              <a:rPr lang="en-US" dirty="0" err="1"/>
              <a:t>commenti</a:t>
            </a:r>
            <a:r>
              <a:rPr lang="en-US" dirty="0"/>
              <a:t> di un video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45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859" y="1845734"/>
            <a:ext cx="3759537" cy="3432290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822959" y="4053212"/>
            <a:ext cx="469551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comments_by_video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video_title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comment_id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timeuuid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timeuuid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b="1" dirty="0" err="1">
                <a:solidFill>
                  <a:srgbClr val="445588"/>
                </a:solidFill>
                <a:latin typeface="Courier New" panose="02070309020205020404" pitchFamily="49" charset="0"/>
              </a:rPr>
              <a:t>comment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((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video_title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),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comment_id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875307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Query: </a:t>
            </a:r>
            <a:r>
              <a:rPr lang="en-US" dirty="0" err="1"/>
              <a:t>commenti</a:t>
            </a:r>
            <a:r>
              <a:rPr lang="en-US" dirty="0"/>
              <a:t> di un </a:t>
            </a:r>
            <a:r>
              <a:rPr lang="en-US" dirty="0" err="1"/>
              <a:t>utente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46</a:t>
            </a:fld>
            <a:endParaRPr lang="en-US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822959" y="4268656"/>
            <a:ext cx="480291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comments_by_user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user_login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</a:t>
            </a: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comment_id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timeuuid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</a:t>
            </a: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timeuuid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b="1" dirty="0" err="1">
                <a:solidFill>
                  <a:srgbClr val="445588"/>
                </a:solidFill>
                <a:latin typeface="Courier New" panose="02070309020205020404" pitchFamily="49" charset="0"/>
              </a:rPr>
              <a:t>comment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((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user_login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),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comment_id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 );</a:t>
            </a:r>
            <a:endParaRPr lang="en-US" sz="1400" dirty="0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59" y="1822204"/>
            <a:ext cx="3839816" cy="355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39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6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Obiettivo</a:t>
            </a:r>
            <a:r>
              <a:rPr lang="en-US" dirty="0"/>
              <a:t>: </a:t>
            </a:r>
            <a:r>
              <a:rPr lang="en-US" dirty="0" err="1"/>
              <a:t>modellare</a:t>
            </a:r>
            <a:r>
              <a:rPr lang="en-US" dirty="0"/>
              <a:t> la </a:t>
            </a:r>
            <a:r>
              <a:rPr lang="en-US" dirty="0" err="1"/>
              <a:t>relazione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video e </a:t>
            </a:r>
            <a:r>
              <a:rPr lang="en-US" dirty="0" err="1"/>
              <a:t>attori</a:t>
            </a:r>
            <a:endParaRPr lang="en-US" dirty="0"/>
          </a:p>
          <a:p>
            <a:pPr lvl="1"/>
            <a:r>
              <a:rPr lang="en-US" dirty="0"/>
              <a:t>La </a:t>
            </a:r>
            <a:r>
              <a:rPr lang="en-US" dirty="0" err="1"/>
              <a:t>modellazione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supportare</a:t>
            </a:r>
            <a:r>
              <a:rPr lang="en-US" dirty="0"/>
              <a:t> le query Q1 e Q2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47</a:t>
            </a:fld>
            <a:endParaRPr lang="en-US" dirty="0"/>
          </a:p>
        </p:txBody>
      </p:sp>
      <p:graphicFrame>
        <p:nvGraphicFramePr>
          <p:cNvPr id="5" name="Tabel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983047"/>
              </p:ext>
            </p:extLst>
          </p:nvPr>
        </p:nvGraphicFramePr>
        <p:xfrm>
          <a:off x="1029742" y="2895718"/>
          <a:ext cx="3353750" cy="2513512"/>
        </p:xfrm>
        <a:graphic>
          <a:graphicData uri="http://schemas.openxmlformats.org/drawingml/2006/table">
            <a:tbl>
              <a:tblPr/>
              <a:tblGrid>
                <a:gridCol w="167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 dirty="0" err="1">
                          <a:effectLst/>
                        </a:rPr>
                        <a:t>Column</a:t>
                      </a:r>
                      <a:r>
                        <a:rPr lang="it-IT" sz="1500" b="1" dirty="0">
                          <a:effectLst/>
                        </a:rPr>
                        <a:t> </a:t>
                      </a:r>
                      <a:r>
                        <a:rPr lang="it-IT" sz="1500" b="1" dirty="0" err="1">
                          <a:effectLst/>
                        </a:rPr>
                        <a:t>Name</a:t>
                      </a:r>
                      <a:endParaRPr lang="it-IT" sz="1500" b="1" dirty="0">
                        <a:effectLst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>
                          <a:effectLst/>
                        </a:rPr>
                        <a:t>Data Type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video_id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timeuuid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added_date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timestamp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description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>
                          <a:effectLst/>
                          <a:latin typeface="inherit"/>
                        </a:rPr>
                        <a:t>encoding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video_encoding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>
                          <a:effectLst/>
                          <a:latin typeface="inherit"/>
                        </a:rPr>
                        <a:t>tags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set&lt;text&gt;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title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user_id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uuid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257787"/>
              </p:ext>
            </p:extLst>
          </p:nvPr>
        </p:nvGraphicFramePr>
        <p:xfrm>
          <a:off x="4950103" y="2895718"/>
          <a:ext cx="2967250" cy="1256756"/>
        </p:xfrm>
        <a:graphic>
          <a:graphicData uri="http://schemas.openxmlformats.org/drawingml/2006/table">
            <a:tbl>
              <a:tblPr/>
              <a:tblGrid>
                <a:gridCol w="148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>
                          <a:effectLst/>
                        </a:rPr>
                        <a:t>Column Name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>
                          <a:effectLst/>
                        </a:rPr>
                        <a:t>Data Type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actor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character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genre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asellaDiTesto 6"/>
          <p:cNvSpPr txBox="1"/>
          <p:nvPr/>
        </p:nvSpPr>
        <p:spPr>
          <a:xfrm>
            <a:off x="966581" y="2526386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Video</a:t>
            </a:r>
          </a:p>
        </p:txBody>
      </p:sp>
      <p:sp>
        <p:nvSpPr>
          <p:cNvPr id="8" name="CasellaDiTesto 7"/>
          <p:cNvSpPr txBox="1"/>
          <p:nvPr/>
        </p:nvSpPr>
        <p:spPr>
          <a:xfrm>
            <a:off x="4950103" y="2526386"/>
            <a:ext cx="71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Attori</a:t>
            </a:r>
            <a:endParaRPr lang="en-US" dirty="0"/>
          </a:p>
        </p:txBody>
      </p:sp>
      <p:sp>
        <p:nvSpPr>
          <p:cNvPr id="9" name="CasellaDiTesto 8"/>
          <p:cNvSpPr txBox="1"/>
          <p:nvPr/>
        </p:nvSpPr>
        <p:spPr>
          <a:xfrm>
            <a:off x="4819699" y="4463794"/>
            <a:ext cx="398057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Q1: </a:t>
            </a:r>
            <a:r>
              <a:rPr lang="en-US" dirty="0" err="1"/>
              <a:t>restituire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video in cui compare</a:t>
            </a:r>
            <a:br>
              <a:rPr lang="en-US" dirty="0"/>
            </a:br>
            <a:r>
              <a:rPr lang="en-US" dirty="0"/>
              <a:t>un </a:t>
            </a:r>
            <a:r>
              <a:rPr lang="en-US" dirty="0" err="1"/>
              <a:t>dato</a:t>
            </a:r>
            <a:r>
              <a:rPr lang="en-US" dirty="0"/>
              <a:t> </a:t>
            </a:r>
            <a:r>
              <a:rPr lang="en-US" dirty="0" err="1"/>
              <a:t>attore</a:t>
            </a:r>
            <a:r>
              <a:rPr lang="en-US" dirty="0"/>
              <a:t> (a </a:t>
            </a:r>
            <a:r>
              <a:rPr lang="en-US" dirty="0" err="1"/>
              <a:t>partire</a:t>
            </a:r>
            <a:r>
              <a:rPr lang="en-US" dirty="0"/>
              <a:t> dal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recente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Q2: </a:t>
            </a:r>
            <a:r>
              <a:rPr lang="en-US" dirty="0" err="1"/>
              <a:t>restituire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video di un </a:t>
            </a:r>
            <a:r>
              <a:rPr lang="en-US" dirty="0" err="1"/>
              <a:t>dato</a:t>
            </a:r>
            <a:br>
              <a:rPr lang="en-US" dirty="0"/>
            </a:br>
            <a:r>
              <a:rPr lang="en-US" dirty="0" err="1"/>
              <a:t>genere</a:t>
            </a:r>
            <a:r>
              <a:rPr lang="en-US" dirty="0"/>
              <a:t> (a </a:t>
            </a:r>
            <a:r>
              <a:rPr lang="en-US" dirty="0" err="1"/>
              <a:t>partire</a:t>
            </a:r>
            <a:r>
              <a:rPr lang="en-US" dirty="0"/>
              <a:t> dal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recente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83485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6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Q1: restituire i video in cui compare un dato attore (a partire dal più recente)</a:t>
            </a:r>
          </a:p>
          <a:p>
            <a:pPr lvl="1"/>
            <a:r>
              <a:rPr lang="it-IT" dirty="0"/>
              <a:t>Filtro su attore </a:t>
            </a:r>
            <a:r>
              <a:rPr lang="it-IT" dirty="0">
                <a:sym typeface="Wingdings" panose="05000000000000000000" pitchFamily="2" charset="2"/>
              </a:rPr>
              <a:t> l'attore costituisce la chiave di partizionamento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Ordinamento per data  la data costituisce la chiave di raggruppamento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Restituire i video  bisogna mantenere la granularità dei video</a:t>
            </a:r>
          </a:p>
          <a:p>
            <a:pPr marL="201168" lvl="1" indent="0">
              <a:buNone/>
            </a:pP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/>
              <a:t> </a:t>
            </a:r>
          </a:p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48</a:t>
            </a:fld>
            <a:endParaRPr lang="en-US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2676705" y="3486784"/>
            <a:ext cx="383630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videos_by_actor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actor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timestamp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timeuuid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character_name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description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encoding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frozen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&lt;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video_encoding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&gt;,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tags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set&lt;text&gt;, </a:t>
            </a:r>
          </a:p>
          <a:p>
            <a:pPr lvl="0"/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title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uuid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pPr lvl="0"/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  <a:r>
              <a:rPr lang="it-IT" sz="1400" b="1" dirty="0">
                <a:solidFill>
                  <a:srgbClr val="FF0000"/>
                </a:solidFill>
                <a:latin typeface="Courier New" panose="02070309020205020404" pitchFamily="49" charset="0"/>
              </a:rPr>
              <a:t>??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)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 WITH CLUSTERING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ORDER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BY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</a:rPr>
              <a:t>??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);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640809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6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Q2: </a:t>
            </a:r>
            <a:r>
              <a:rPr lang="en-US" dirty="0" err="1"/>
              <a:t>restituire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video di un </a:t>
            </a:r>
            <a:r>
              <a:rPr lang="en-US" dirty="0" err="1"/>
              <a:t>dato</a:t>
            </a:r>
            <a:r>
              <a:rPr lang="en-US" dirty="0"/>
              <a:t> </a:t>
            </a:r>
            <a:r>
              <a:rPr lang="en-US" dirty="0" err="1"/>
              <a:t>genere</a:t>
            </a:r>
            <a:r>
              <a:rPr lang="en-US" dirty="0"/>
              <a:t> (a </a:t>
            </a:r>
            <a:r>
              <a:rPr lang="en-US" dirty="0" err="1"/>
              <a:t>partire</a:t>
            </a:r>
            <a:r>
              <a:rPr lang="en-US" dirty="0"/>
              <a:t> dal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recente</a:t>
            </a:r>
            <a:r>
              <a:rPr lang="en-US" dirty="0"/>
              <a:t>)</a:t>
            </a:r>
            <a:endParaRPr lang="it-IT" dirty="0"/>
          </a:p>
          <a:p>
            <a:pPr lvl="1"/>
            <a:r>
              <a:rPr lang="it-IT" dirty="0"/>
              <a:t>Filtro su genere </a:t>
            </a:r>
            <a:r>
              <a:rPr lang="it-IT" dirty="0">
                <a:sym typeface="Wingdings" panose="05000000000000000000" pitchFamily="2" charset="2"/>
              </a:rPr>
              <a:t> il genere costituisce la chiave di partizionamento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Ordinamento per data  la data costituisce la chiave di raggruppamento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Restituire i video  bisogna mantenere la granularità dei video</a:t>
            </a:r>
          </a:p>
          <a:p>
            <a:pPr marL="201168" lvl="1" indent="0">
              <a:buNone/>
            </a:pP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/>
              <a:t> </a:t>
            </a:r>
          </a:p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49</a:t>
            </a:fld>
            <a:endParaRPr lang="en-US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2676705" y="3486784"/>
            <a:ext cx="3836307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videos_by_genre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genre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timestamp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timeuuid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description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encoding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frozen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&lt;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video_encoding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&gt;,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tags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set&lt;text&gt;, </a:t>
            </a:r>
          </a:p>
          <a:p>
            <a:pPr lvl="0"/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title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uuid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pPr lvl="0"/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  <a:r>
              <a:rPr lang="it-IT" sz="1400" b="1" dirty="0">
                <a:solidFill>
                  <a:srgbClr val="FF0000"/>
                </a:solidFill>
                <a:latin typeface="Courier New" panose="02070309020205020404" pitchFamily="49" charset="0"/>
              </a:rPr>
              <a:t>??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)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 WITH CLUSTERING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ORDER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BY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</a:rPr>
              <a:t>??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);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863776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Upsert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Nei</a:t>
            </a:r>
            <a:r>
              <a:rPr lang="en-US" dirty="0"/>
              <a:t> DBMS </a:t>
            </a:r>
            <a:r>
              <a:rPr lang="en-US" dirty="0" err="1"/>
              <a:t>relazionali</a:t>
            </a:r>
            <a:r>
              <a:rPr lang="en-US" dirty="0"/>
              <a:t> (ma </a:t>
            </a:r>
            <a:r>
              <a:rPr lang="en-US" dirty="0" err="1"/>
              <a:t>anche</a:t>
            </a:r>
            <a:r>
              <a:rPr lang="en-US" dirty="0"/>
              <a:t> in MongoDB) la </a:t>
            </a:r>
            <a:r>
              <a:rPr lang="en-US" dirty="0" err="1"/>
              <a:t>funzionalità</a:t>
            </a:r>
            <a:r>
              <a:rPr lang="en-US" dirty="0"/>
              <a:t> di UPSERT (i.e., </a:t>
            </a:r>
            <a:r>
              <a:rPr lang="en-US" dirty="0" err="1"/>
              <a:t>inserisci</a:t>
            </a:r>
            <a:r>
              <a:rPr lang="en-US" dirty="0"/>
              <a:t> se la tupla/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documento</a:t>
            </a:r>
            <a:r>
              <a:rPr lang="en-US" dirty="0"/>
              <a:t> non </a:t>
            </a:r>
            <a:r>
              <a:rPr lang="en-US" dirty="0" err="1"/>
              <a:t>esiste</a:t>
            </a:r>
            <a:r>
              <a:rPr lang="en-US" dirty="0"/>
              <a:t> </a:t>
            </a:r>
            <a:r>
              <a:rPr lang="en-US" dirty="0" err="1"/>
              <a:t>già</a:t>
            </a:r>
            <a:r>
              <a:rPr lang="en-US" dirty="0"/>
              <a:t>, </a:t>
            </a:r>
            <a:r>
              <a:rPr lang="en-US" dirty="0" err="1"/>
              <a:t>altrimenti</a:t>
            </a:r>
            <a:r>
              <a:rPr lang="en-US" dirty="0"/>
              <a:t> </a:t>
            </a:r>
            <a:r>
              <a:rPr lang="en-US" dirty="0" err="1"/>
              <a:t>aggiornane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) è </a:t>
            </a:r>
            <a:r>
              <a:rPr lang="en-US" dirty="0" err="1"/>
              <a:t>gestita</a:t>
            </a:r>
            <a:r>
              <a:rPr lang="en-US" dirty="0"/>
              <a:t> con </a:t>
            </a:r>
            <a:r>
              <a:rPr lang="en-US" dirty="0" err="1"/>
              <a:t>comandi</a:t>
            </a:r>
            <a:r>
              <a:rPr lang="en-US" dirty="0"/>
              <a:t> ad-hoc</a:t>
            </a:r>
          </a:p>
          <a:p>
            <a:pPr lvl="1"/>
            <a:r>
              <a:rPr lang="en-US" dirty="0" err="1"/>
              <a:t>db.collection.update</a:t>
            </a:r>
            <a:r>
              <a:rPr lang="en-US" dirty="0"/>
              <a:t>( </a:t>
            </a:r>
            <a:r>
              <a:rPr lang="en-US" i="1" dirty="0" err="1"/>
              <a:t>queryObj</a:t>
            </a:r>
            <a:r>
              <a:rPr lang="en-US" dirty="0"/>
              <a:t>, </a:t>
            </a:r>
            <a:r>
              <a:rPr lang="en-US" i="1" dirty="0" err="1"/>
              <a:t>updateObj</a:t>
            </a:r>
            <a:r>
              <a:rPr lang="en-US" dirty="0"/>
              <a:t>, { </a:t>
            </a:r>
            <a:r>
              <a:rPr lang="en-US" dirty="0" err="1"/>
              <a:t>upsert</a:t>
            </a:r>
            <a:r>
              <a:rPr lang="en-US" dirty="0"/>
              <a:t>: true})</a:t>
            </a:r>
          </a:p>
          <a:p>
            <a:pPr lvl="1"/>
            <a:r>
              <a:rPr lang="en-US" dirty="0" err="1"/>
              <a:t>Inserire</a:t>
            </a:r>
            <a:r>
              <a:rPr lang="en-US" dirty="0"/>
              <a:t> un </a:t>
            </a:r>
            <a:r>
              <a:rPr lang="en-US" dirty="0" err="1"/>
              <a:t>documento</a:t>
            </a:r>
            <a:r>
              <a:rPr lang="en-US" dirty="0"/>
              <a:t> con un ID </a:t>
            </a:r>
            <a:r>
              <a:rPr lang="en-US" dirty="0" err="1"/>
              <a:t>già</a:t>
            </a:r>
            <a:r>
              <a:rPr lang="en-US" dirty="0"/>
              <a:t> </a:t>
            </a:r>
            <a:r>
              <a:rPr lang="en-US" dirty="0" err="1"/>
              <a:t>esistente</a:t>
            </a:r>
            <a:r>
              <a:rPr lang="en-US" dirty="0"/>
              <a:t> </a:t>
            </a:r>
            <a:r>
              <a:rPr lang="en-US" dirty="0" err="1"/>
              <a:t>dà</a:t>
            </a:r>
            <a:r>
              <a:rPr lang="en-US" dirty="0"/>
              <a:t> </a:t>
            </a:r>
            <a:r>
              <a:rPr lang="en-US" dirty="0" err="1"/>
              <a:t>errore</a:t>
            </a:r>
            <a:endParaRPr lang="en-US" dirty="0"/>
          </a:p>
          <a:p>
            <a:pPr lvl="1"/>
            <a:r>
              <a:rPr lang="en-US" dirty="0" err="1"/>
              <a:t>Aggiornare</a:t>
            </a:r>
            <a:r>
              <a:rPr lang="en-US" dirty="0"/>
              <a:t> un </a:t>
            </a:r>
            <a:r>
              <a:rPr lang="en-US" dirty="0" err="1"/>
              <a:t>documento</a:t>
            </a:r>
            <a:r>
              <a:rPr lang="en-US" dirty="0"/>
              <a:t> con un ID non </a:t>
            </a:r>
            <a:r>
              <a:rPr lang="en-US" dirty="0" err="1"/>
              <a:t>esistente</a:t>
            </a:r>
            <a:r>
              <a:rPr lang="en-US" dirty="0"/>
              <a:t> non ha </a:t>
            </a:r>
            <a:r>
              <a:rPr lang="en-US" dirty="0" err="1"/>
              <a:t>alcun</a:t>
            </a:r>
            <a:r>
              <a:rPr lang="en-US" dirty="0"/>
              <a:t> </a:t>
            </a:r>
            <a:r>
              <a:rPr lang="en-US" dirty="0" err="1"/>
              <a:t>effetto</a:t>
            </a:r>
            <a:endParaRPr lang="en-US" dirty="0"/>
          </a:p>
          <a:p>
            <a:r>
              <a:rPr lang="en-US" dirty="0"/>
              <a:t>In Cassandra </a:t>
            </a:r>
            <a:r>
              <a:rPr lang="en-US" dirty="0" err="1"/>
              <a:t>l'UPSERT</a:t>
            </a:r>
            <a:r>
              <a:rPr lang="en-US" dirty="0"/>
              <a:t> è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comportamento</a:t>
            </a:r>
            <a:r>
              <a:rPr lang="en-US" dirty="0"/>
              <a:t> di default</a:t>
            </a:r>
          </a:p>
          <a:p>
            <a:pPr lvl="1"/>
            <a:r>
              <a:rPr lang="en-US" dirty="0" err="1"/>
              <a:t>Inserire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riga</a:t>
            </a:r>
            <a:r>
              <a:rPr lang="en-US" dirty="0"/>
              <a:t> con un ID </a:t>
            </a:r>
            <a:r>
              <a:rPr lang="en-US" dirty="0" err="1"/>
              <a:t>già</a:t>
            </a:r>
            <a:r>
              <a:rPr lang="en-US" dirty="0"/>
              <a:t> </a:t>
            </a:r>
            <a:r>
              <a:rPr lang="en-US" dirty="0" err="1"/>
              <a:t>esistente</a:t>
            </a:r>
            <a:r>
              <a:rPr lang="en-US" dirty="0"/>
              <a:t>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aggiornarne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valori</a:t>
            </a:r>
            <a:endParaRPr lang="en-US" dirty="0"/>
          </a:p>
          <a:p>
            <a:pPr lvl="1"/>
            <a:r>
              <a:rPr lang="en-US" dirty="0" err="1"/>
              <a:t>Aggiornare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riga</a:t>
            </a:r>
            <a:r>
              <a:rPr lang="en-US" dirty="0"/>
              <a:t> con un ID non </a:t>
            </a:r>
            <a:r>
              <a:rPr lang="en-US" dirty="0" err="1"/>
              <a:t>esistente</a:t>
            </a:r>
            <a:r>
              <a:rPr lang="en-US" dirty="0"/>
              <a:t>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aggiungerla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6611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Upsert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51</a:t>
            </a:fld>
            <a:endParaRPr lang="en-US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618498" y="1931471"/>
            <a:ext cx="813043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Number of inserted rows: 797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it-IT" sz="1600" dirty="0"/>
              <a:t>Un video può avere più </a:t>
            </a:r>
            <a:r>
              <a:rPr lang="it-IT" sz="1600" dirty="0" err="1"/>
              <a:t>tag</a:t>
            </a:r>
            <a:r>
              <a:rPr lang="it-IT" sz="1600" dirty="0"/>
              <a:t>, quindi i sui dati sono duplicati nel CSV (tante righe, una per ogni </a:t>
            </a:r>
            <a:r>
              <a:rPr lang="it-IT" sz="1600" dirty="0" err="1"/>
              <a:t>tag</a:t>
            </a:r>
            <a:r>
              <a:rPr lang="it-IT" sz="1600" dirty="0"/>
              <a:t>)</a:t>
            </a:r>
          </a:p>
          <a:p>
            <a:r>
              <a:rPr lang="it-IT" sz="1600" dirty="0"/>
              <a:t>Ma il comportamento di default in Cassandra è l'</a:t>
            </a:r>
            <a:r>
              <a:rPr lang="it-IT" sz="1600" dirty="0" err="1"/>
              <a:t>upsert</a:t>
            </a:r>
            <a:r>
              <a:rPr lang="it-IT" sz="1600" dirty="0"/>
              <a:t>..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3950140" y="2250067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 </a:t>
            </a:r>
            <a:endParaRPr lang="en-US" sz="1600" dirty="0"/>
          </a:p>
        </p:txBody>
      </p:sp>
      <p:sp>
        <p:nvSpPr>
          <p:cNvPr id="12" name="CasellaDiTesto 11"/>
          <p:cNvSpPr txBox="1"/>
          <p:nvPr/>
        </p:nvSpPr>
        <p:spPr>
          <a:xfrm>
            <a:off x="993134" y="2098427"/>
            <a:ext cx="7487947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COPY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bad_videos_by_tag_year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(tag,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description, title,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'/root/</a:t>
            </a:r>
            <a:r>
              <a:rPr lang="en-US" sz="1400" dirty="0" err="1">
                <a:solidFill>
                  <a:srgbClr val="DD1144"/>
                </a:solidFill>
                <a:latin typeface="inherit"/>
              </a:rPr>
              <a:t>labwork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/exercise-4/videos_by_tag_year.csv'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WITH HEADER=</a:t>
            </a:r>
            <a:r>
              <a:rPr lang="en-US" sz="1400" dirty="0">
                <a:solidFill>
                  <a:srgbClr val="008080"/>
                </a:solidFill>
                <a:latin typeface="Courier New" panose="02070309020205020404" pitchFamily="49" charset="0"/>
              </a:rPr>
              <a:t>true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count(*)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bad_videos_by_tag_year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;</a:t>
            </a: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endParaRPr lang="en-US" sz="1400" b="1" dirty="0">
              <a:solidFill>
                <a:srgbClr val="445588"/>
              </a:solidFill>
              <a:latin typeface="Courier New" panose="02070309020205020404" pitchFamily="49" charset="0"/>
            </a:endParaRPr>
          </a:p>
          <a:p>
            <a:endParaRPr lang="en-US" sz="1400" b="1" dirty="0">
              <a:solidFill>
                <a:srgbClr val="445588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DROP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TABLE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bad_videos_by_tag_year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;</a:t>
            </a:r>
          </a:p>
        </p:txBody>
      </p:sp>
    </p:spTree>
    <p:extLst>
      <p:ext uri="{BB962C8B-B14F-4D97-AF65-F5344CB8AC3E}">
        <p14:creationId xmlns:p14="http://schemas.microsoft.com/office/powerpoint/2010/main" val="20385066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658E84-7C75-4DB8-A0C7-BDA65327F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finale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F9D510-76BC-465A-A868-E247C578B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it-IT" dirty="0"/>
              <a:t>Aprire lo script `/root/</a:t>
            </a:r>
            <a:r>
              <a:rPr lang="it-IT" dirty="0" err="1"/>
              <a:t>labwork</a:t>
            </a:r>
            <a:r>
              <a:rPr lang="it-IT" dirty="0"/>
              <a:t>/exercise-16/</a:t>
            </a:r>
            <a:r>
              <a:rPr lang="it-IT" dirty="0" err="1"/>
              <a:t>killrvideo.cql</a:t>
            </a:r>
            <a:r>
              <a:rPr lang="it-IT" dirty="0"/>
              <a:t>`. Nelle prime 4 tabelle, inserire il tipo di dato corretto al posto di "CQL TYPE".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Eseguire lo script e popolare le tabelle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Definire le seguenti query:</a:t>
            </a:r>
          </a:p>
          <a:p>
            <a:pPr marL="749808" lvl="1" indent="-457200">
              <a:buFont typeface="+mj-lt"/>
              <a:buAutoNum type="arabicPeriod"/>
            </a:pPr>
            <a:r>
              <a:rPr lang="it-IT" sz="1600" dirty="0"/>
              <a:t>Visualizzare i 50 video più recenti dalla tabella </a:t>
            </a:r>
            <a:r>
              <a:rPr lang="it-IT" sz="1600" dirty="0" err="1"/>
              <a:t>latest_videos</a:t>
            </a:r>
            <a:r>
              <a:rPr lang="it-IT" sz="1600" dirty="0"/>
              <a:t>. Cercare l'ID del film `</a:t>
            </a:r>
            <a:r>
              <a:rPr lang="it-IT" sz="1600" dirty="0" err="1"/>
              <a:t>Gone</a:t>
            </a:r>
            <a:r>
              <a:rPr lang="it-IT" sz="1600" dirty="0"/>
              <a:t> Girl` ("L'amore bugiardo")</a:t>
            </a:r>
          </a:p>
          <a:p>
            <a:pPr marL="749808" lvl="1" indent="-457200">
              <a:buFont typeface="+mj-lt"/>
              <a:buAutoNum type="arabicPeriod"/>
            </a:pPr>
            <a:r>
              <a:rPr lang="it-IT" sz="1600" dirty="0"/>
              <a:t>Visualizzare i dati del film dalla tabella `</a:t>
            </a:r>
            <a:r>
              <a:rPr lang="it-IT" sz="1600" dirty="0" err="1"/>
              <a:t>videos</a:t>
            </a:r>
            <a:r>
              <a:rPr lang="it-IT" sz="1600" dirty="0"/>
              <a:t>`. Quando è stato rilasciato il film? A quali generi appartiene?</a:t>
            </a:r>
          </a:p>
          <a:p>
            <a:pPr marL="749808" lvl="1" indent="-457200">
              <a:buFont typeface="+mj-lt"/>
              <a:buAutoNum type="arabicPeriod"/>
            </a:pPr>
            <a:r>
              <a:rPr lang="it-IT" sz="1600" dirty="0"/>
              <a:t>Visualizzare gli attori coinvolti nel film e i personaggi da loro interpretati dalla tabella `</a:t>
            </a:r>
            <a:r>
              <a:rPr lang="it-IT" sz="1600" dirty="0" err="1"/>
              <a:t>actors_by_video</a:t>
            </a:r>
            <a:r>
              <a:rPr lang="it-IT" sz="1600" dirty="0"/>
              <a:t>`. Quale attore ha interpretato il personaggio `Desi </a:t>
            </a:r>
            <a:r>
              <a:rPr lang="it-IT" sz="1600" dirty="0" err="1"/>
              <a:t>Collings</a:t>
            </a:r>
            <a:r>
              <a:rPr lang="it-IT" sz="1600" dirty="0"/>
              <a:t>`?</a:t>
            </a:r>
          </a:p>
          <a:p>
            <a:pPr marL="749808" lvl="1" indent="-457200">
              <a:buFont typeface="+mj-lt"/>
              <a:buAutoNum type="arabicPeriod"/>
            </a:pPr>
            <a:r>
              <a:rPr lang="it-IT" sz="1600" dirty="0"/>
              <a:t>Cercare il trailer del film dalla tabella `</a:t>
            </a:r>
            <a:r>
              <a:rPr lang="it-IT" sz="1600" dirty="0" err="1"/>
              <a:t>trailers_by_video</a:t>
            </a:r>
            <a:r>
              <a:rPr lang="it-IT" sz="1600" dirty="0"/>
              <a:t>`. Il </a:t>
            </a:r>
            <a:r>
              <a:rPr lang="it-IT" sz="1600" dirty="0" err="1"/>
              <a:t>trailer_id</a:t>
            </a:r>
            <a:r>
              <a:rPr lang="it-IT" sz="1600" dirty="0"/>
              <a:t> è un ID che riconduce alla tabella `</a:t>
            </a:r>
            <a:r>
              <a:rPr lang="it-IT" sz="1600" dirty="0" err="1"/>
              <a:t>videos</a:t>
            </a:r>
            <a:r>
              <a:rPr lang="it-IT" sz="1600" dirty="0"/>
              <a:t>`</a:t>
            </a:r>
          </a:p>
          <a:p>
            <a:pPr marL="749808" lvl="1" indent="-457200">
              <a:buFont typeface="+mj-lt"/>
              <a:buAutoNum type="arabicPeriod"/>
            </a:pPr>
            <a:r>
              <a:rPr lang="it-IT" sz="1600" dirty="0"/>
              <a:t>Visualizzare i dati del trailer dalla tabella `</a:t>
            </a:r>
            <a:r>
              <a:rPr lang="it-IT" sz="1600" dirty="0" err="1"/>
              <a:t>videos</a:t>
            </a:r>
            <a:r>
              <a:rPr lang="it-IT" sz="1600" dirty="0"/>
              <a:t>`</a:t>
            </a:r>
          </a:p>
          <a:p>
            <a:pPr marL="749808" lvl="1" indent="-457200">
              <a:buFont typeface="+mj-lt"/>
              <a:buAutoNum type="arabicPeriod"/>
            </a:pPr>
            <a:endParaRPr lang="it-IT" sz="1400" dirty="0"/>
          </a:p>
          <a:p>
            <a:pPr marL="749808" lvl="1" indent="-457200">
              <a:buFont typeface="+mj-lt"/>
              <a:buAutoNum type="arabicPeriod"/>
            </a:pPr>
            <a:endParaRPr lang="it-IT" sz="2000" dirty="0"/>
          </a:p>
          <a:p>
            <a:pPr marL="749808" lvl="1" indent="-457200">
              <a:buFont typeface="+mj-lt"/>
              <a:buAutoNum type="arabicPeriod"/>
            </a:pPr>
            <a:endParaRPr lang="it-IT" sz="2000" dirty="0"/>
          </a:p>
          <a:p>
            <a:pPr marL="749808" lvl="1" indent="-457200">
              <a:buFont typeface="+mj-lt"/>
              <a:buAutoNum type="arabicPeriod"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sz="18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B137B8E-9A3F-4DC1-9704-5EC070CE7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12597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Retrospettivo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ttiv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286</TotalTime>
  <Words>3641</Words>
  <Application>Microsoft Office PowerPoint</Application>
  <PresentationFormat>Presentazione su schermo (4:3)</PresentationFormat>
  <Paragraphs>679</Paragraphs>
  <Slides>52</Slides>
  <Notes>18</Notes>
  <HiddenSlides>6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52</vt:i4>
      </vt:variant>
    </vt:vector>
  </HeadingPairs>
  <TitlesOfParts>
    <vt:vector size="58" baseType="lpstr">
      <vt:lpstr>Arial</vt:lpstr>
      <vt:lpstr>Calibri</vt:lpstr>
      <vt:lpstr>Calibri Light</vt:lpstr>
      <vt:lpstr>Courier New</vt:lpstr>
      <vt:lpstr>inherit</vt:lpstr>
      <vt:lpstr>Retrospettivo</vt:lpstr>
      <vt:lpstr>Apache Cassandra</vt:lpstr>
      <vt:lpstr>Getting started</vt:lpstr>
      <vt:lpstr>Introduzione</vt:lpstr>
      <vt:lpstr>Installazione</vt:lpstr>
      <vt:lpstr>[Obsoleto] Installazione</vt:lpstr>
      <vt:lpstr>[Obsoleto] Installazione</vt:lpstr>
      <vt:lpstr>[Obsoleto] Installazione</vt:lpstr>
      <vt:lpstr>KillrVideo dataset</vt:lpstr>
      <vt:lpstr>DDL</vt:lpstr>
      <vt:lpstr>Tipi di dato</vt:lpstr>
      <vt:lpstr>Import di dati</vt:lpstr>
      <vt:lpstr>Select</vt:lpstr>
      <vt:lpstr>Esercizio 1</vt:lpstr>
      <vt:lpstr>Limitazioni in fase di query</vt:lpstr>
      <vt:lpstr>Esercizio 2</vt:lpstr>
      <vt:lpstr>Chiavi</vt:lpstr>
      <vt:lpstr>Chiave primaria</vt:lpstr>
      <vt:lpstr>Cassandra al livello fisico</vt:lpstr>
      <vt:lpstr>Perchè il concetto di partizione</vt:lpstr>
      <vt:lpstr>Chiave di partizione</vt:lpstr>
      <vt:lpstr>Chiave di partizione</vt:lpstr>
      <vt:lpstr>Colonna di raggruppamento</vt:lpstr>
      <vt:lpstr>Colonna di raggruppamento</vt:lpstr>
      <vt:lpstr>Morale</vt:lpstr>
      <vt:lpstr>Esercizio 3</vt:lpstr>
      <vt:lpstr>Esercizio 3</vt:lpstr>
      <vt:lpstr>Esercizio 3</vt:lpstr>
      <vt:lpstr>Esercizio 3</vt:lpstr>
      <vt:lpstr>Esercizio 3</vt:lpstr>
      <vt:lpstr>Tipi di dato complessi</vt:lpstr>
      <vt:lpstr>DDL</vt:lpstr>
      <vt:lpstr>Collezioni</vt:lpstr>
      <vt:lpstr>Tipi di collezione</vt:lpstr>
      <vt:lpstr>Come usare UDT</vt:lpstr>
      <vt:lpstr>Contatori</vt:lpstr>
      <vt:lpstr>Esercizio 4</vt:lpstr>
      <vt:lpstr>Eseguire script</vt:lpstr>
      <vt:lpstr>Esercizio 5</vt:lpstr>
      <vt:lpstr>Modellazione</vt:lpstr>
      <vt:lpstr>Modellazione relazionale</vt:lpstr>
      <vt:lpstr>Query: commenti di un video</vt:lpstr>
      <vt:lpstr>Query: commenti di un video</vt:lpstr>
      <vt:lpstr>Query: commenti di un utente</vt:lpstr>
      <vt:lpstr>Modellazione in Cassandra</vt:lpstr>
      <vt:lpstr>Query: commenti di un video</vt:lpstr>
      <vt:lpstr>Query: commenti di un utente</vt:lpstr>
      <vt:lpstr>Esercizio 6</vt:lpstr>
      <vt:lpstr>Esercizio 6</vt:lpstr>
      <vt:lpstr>Esercizio 6</vt:lpstr>
      <vt:lpstr>Upsert</vt:lpstr>
      <vt:lpstr>Upsert</vt:lpstr>
      <vt:lpstr>Esercizio finale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INSIGHT</dc:title>
  <dc:creator>Matteo Francia</dc:creator>
  <cp:lastModifiedBy>Manuele Pasini</cp:lastModifiedBy>
  <cp:revision>716</cp:revision>
  <dcterms:created xsi:type="dcterms:W3CDTF">2014-12-16T10:04:42Z</dcterms:created>
  <dcterms:modified xsi:type="dcterms:W3CDTF">2025-02-24T15:05:16Z</dcterms:modified>
</cp:coreProperties>
</file>