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93" r:id="rId1"/>
  </p:sldMasterIdLst>
  <p:notesMasterIdLst>
    <p:notesMasterId r:id="rId46"/>
  </p:notesMasterIdLst>
  <p:sldIdLst>
    <p:sldId id="256" r:id="rId2"/>
    <p:sldId id="328" r:id="rId3"/>
    <p:sldId id="336" r:id="rId4"/>
    <p:sldId id="329" r:id="rId5"/>
    <p:sldId id="331" r:id="rId6"/>
    <p:sldId id="332" r:id="rId7"/>
    <p:sldId id="333" r:id="rId8"/>
    <p:sldId id="335" r:id="rId9"/>
    <p:sldId id="334" r:id="rId10"/>
    <p:sldId id="337" r:id="rId11"/>
    <p:sldId id="356" r:id="rId12"/>
    <p:sldId id="338" r:id="rId13"/>
    <p:sldId id="340" r:id="rId14"/>
    <p:sldId id="341" r:id="rId15"/>
    <p:sldId id="339" r:id="rId16"/>
    <p:sldId id="342" r:id="rId17"/>
    <p:sldId id="343" r:id="rId18"/>
    <p:sldId id="344" r:id="rId19"/>
    <p:sldId id="346" r:id="rId20"/>
    <p:sldId id="345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eo Francia" initials="MF" lastIdx="2" clrIdx="0">
    <p:extLst>
      <p:ext uri="{19B8F6BF-5375-455C-9EA6-DF929625EA0E}">
        <p15:presenceInfo xmlns:p15="http://schemas.microsoft.com/office/powerpoint/2012/main" userId="S-1-5-21-2162351890-1506888927-3107636301-135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EF9"/>
    <a:srgbClr val="E1E1DB"/>
    <a:srgbClr val="FF9230"/>
    <a:srgbClr val="6ED7FC"/>
    <a:srgbClr val="DEFF9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92769" autoAdjust="0"/>
  </p:normalViewPr>
  <p:slideViewPr>
    <p:cSldViewPr snapToGrid="0">
      <p:cViewPr varScale="1">
        <p:scale>
          <a:sx n="150" d="100"/>
          <a:sy n="150" d="100"/>
        </p:scale>
        <p:origin x="2028" y="108"/>
      </p:cViewPr>
      <p:guideLst/>
    </p:cSldViewPr>
  </p:slideViewPr>
  <p:outlineViewPr>
    <p:cViewPr>
      <p:scale>
        <a:sx n="33" d="100"/>
        <a:sy n="33" d="100"/>
      </p:scale>
      <p:origin x="0" y="-16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1D565-392B-4AB9-9647-420EF17AA3FC}" type="datetimeFigureOut">
              <a:rPr lang="it-IT" smtClean="0"/>
              <a:t>05/03/2025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CEA09-33FA-4F6C-9D30-5FB0AA0E11C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58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14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Secondo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del </a:t>
            </a:r>
            <a:r>
              <a:rPr lang="en-US" dirty="0" err="1"/>
              <a:t>corso</a:t>
            </a:r>
            <a:r>
              <a:rPr lang="en-US" dirty="0"/>
              <a:t>, </a:t>
            </a:r>
            <a:r>
              <a:rPr lang="en-US" dirty="0" err="1"/>
              <a:t>l'order</a:t>
            </a:r>
            <a:r>
              <a:rPr lang="en-US" dirty="0"/>
              <a:t> by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in </a:t>
            </a:r>
            <a:r>
              <a:rPr lang="en-US" dirty="0" err="1"/>
              <a:t>entrambi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, cambia</a:t>
            </a:r>
            <a:r>
              <a:rPr lang="en-US" baseline="0" dirty="0"/>
              <a:t> solo </a:t>
            </a:r>
            <a:r>
              <a:rPr lang="en-US" baseline="0" dirty="0" err="1"/>
              <a:t>il</a:t>
            </a:r>
            <a:r>
              <a:rPr lang="en-US" baseline="0" dirty="0"/>
              <a:t> verso di </a:t>
            </a:r>
            <a:r>
              <a:rPr lang="en-US" baseline="0" dirty="0" err="1"/>
              <a:t>lettura</a:t>
            </a:r>
            <a:r>
              <a:rPr lang="en-US" baseline="0" dirty="0"/>
              <a:t> di Cassandra (</a:t>
            </a:r>
            <a:r>
              <a:rPr lang="en-US" baseline="0" dirty="0" err="1"/>
              <a:t>ai</a:t>
            </a:r>
            <a:r>
              <a:rPr lang="en-US" baseline="0" dirty="0"/>
              <a:t> </a:t>
            </a:r>
            <a:r>
              <a:rPr lang="en-US" baseline="0" dirty="0" err="1"/>
              <a:t>fini</a:t>
            </a:r>
            <a:r>
              <a:rPr lang="en-US" baseline="0" dirty="0"/>
              <a:t> del </a:t>
            </a:r>
            <a:r>
              <a:rPr lang="en-US" baseline="0" dirty="0" err="1"/>
              <a:t>filtro</a:t>
            </a:r>
            <a:r>
              <a:rPr lang="en-US" baseline="0" dirty="0"/>
              <a:t> date &gt; X)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951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1730-2F0F-4B55-83F4-33856D80FFD7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8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7768-7A83-43C9-9C3D-95CD5F68D7E2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D30C4-1715-4BC2-976F-EF7BA4DC70B4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88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F10C-564E-48D4-BE3A-05BB93A7F107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9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B9DB-33AD-46E7-ADFD-C52815BFEA09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2824-932F-46A1-8D0D-D52979BEE663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3CB2-1968-4F08-9AB4-83693145DE18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5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F8F6D7E5-1322-4764-A2E4-7B71FFFDE726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0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0A1A-929F-4DC6-9A8A-74A15252C912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35D6-F845-4530-B289-DD4EC9CAE501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6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DE46-844C-40F1-AAA7-78AD6518D44C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533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D3DE46-844C-40F1-AAA7-78AD6518D44C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4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2960" y="3001557"/>
            <a:ext cx="7543800" cy="1099527"/>
          </a:xfrm>
        </p:spPr>
        <p:txBody>
          <a:bodyPr>
            <a:normAutofit fontScale="90000"/>
          </a:bodyPr>
          <a:lstStyle/>
          <a:p>
            <a:pPr algn="ctr"/>
            <a:r>
              <a:rPr lang="it-IT" noProof="0" dirty="0"/>
              <a:t>Apache Cassandra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22960" y="4452723"/>
            <a:ext cx="7543800" cy="296006"/>
          </a:xfrm>
        </p:spPr>
        <p:txBody>
          <a:bodyPr>
            <a:normAutofit fontScale="77500" lnSpcReduction="20000"/>
          </a:bodyPr>
          <a:lstStyle/>
          <a:p>
            <a:r>
              <a:rPr lang="it-IT" noProof="0" dirty="0"/>
              <a:t>A COLUMN-BASED NOSQL database</a:t>
            </a:r>
          </a:p>
        </p:txBody>
      </p:sp>
      <p:sp>
        <p:nvSpPr>
          <p:cNvPr id="6" name="Sottotitolo 2"/>
          <p:cNvSpPr txBox="1">
            <a:spLocks/>
          </p:cNvSpPr>
          <p:nvPr/>
        </p:nvSpPr>
        <p:spPr>
          <a:xfrm>
            <a:off x="822960" y="2243941"/>
            <a:ext cx="7543800" cy="29600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3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Progettazione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Abbiamo</a:t>
            </a:r>
            <a:r>
              <a:rPr lang="en-US" dirty="0"/>
              <a:t> visto come </a:t>
            </a:r>
            <a:r>
              <a:rPr lang="en-US" dirty="0" err="1"/>
              <a:t>modellare</a:t>
            </a:r>
            <a:r>
              <a:rPr lang="en-US" dirty="0"/>
              <a:t> </a:t>
            </a:r>
            <a:r>
              <a:rPr lang="en-US" dirty="0" err="1"/>
              <a:t>alcune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 per </a:t>
            </a:r>
            <a:r>
              <a:rPr lang="en-US" dirty="0" err="1"/>
              <a:t>rispondere</a:t>
            </a:r>
            <a:r>
              <a:rPr lang="en-US" dirty="0"/>
              <a:t> a </a:t>
            </a:r>
            <a:r>
              <a:rPr lang="en-US" dirty="0" err="1"/>
              <a:t>specifiche</a:t>
            </a:r>
            <a:r>
              <a:rPr lang="en-US" dirty="0"/>
              <a:t> query…</a:t>
            </a:r>
          </a:p>
          <a:p>
            <a:r>
              <a:rPr lang="en-US" dirty="0"/>
              <a:t>… ma come </a:t>
            </a:r>
            <a:r>
              <a:rPr lang="en-US" dirty="0" err="1"/>
              <a:t>progettare</a:t>
            </a:r>
            <a:r>
              <a:rPr lang="en-US" dirty="0"/>
              <a:t> la </a:t>
            </a:r>
            <a:r>
              <a:rPr lang="en-US" dirty="0" err="1"/>
              <a:t>modellazione</a:t>
            </a:r>
            <a:r>
              <a:rPr lang="en-US" dirty="0"/>
              <a:t> di un </a:t>
            </a:r>
            <a:r>
              <a:rPr lang="en-US" dirty="0" err="1"/>
              <a:t>intero</a:t>
            </a:r>
            <a:r>
              <a:rPr lang="en-US" dirty="0"/>
              <a:t> database?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8" y="3139478"/>
            <a:ext cx="7543801" cy="24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8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Metodologia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644589"/>
            <a:ext cx="7543802" cy="15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8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concettuale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0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Modello</a:t>
            </a:r>
            <a:r>
              <a:rPr lang="en-US" dirty="0"/>
              <a:t> quasi-ER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Le </a:t>
            </a:r>
            <a:r>
              <a:rPr lang="en-US" dirty="0" err="1"/>
              <a:t>cardinalità</a:t>
            </a:r>
            <a:r>
              <a:rPr lang="en-US" dirty="0"/>
              <a:t> </a:t>
            </a:r>
            <a:r>
              <a:rPr lang="en-US" dirty="0" err="1"/>
              <a:t>sugli</a:t>
            </a:r>
            <a:r>
              <a:rPr lang="en-US" dirty="0"/>
              <a:t> </a:t>
            </a:r>
            <a:r>
              <a:rPr lang="en-US" dirty="0" err="1"/>
              <a:t>archi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cardinalità</a:t>
            </a:r>
            <a:r>
              <a:rPr lang="en-US" dirty="0"/>
              <a:t> </a:t>
            </a:r>
            <a:r>
              <a:rPr lang="en-US" dirty="0" err="1"/>
              <a:t>massime</a:t>
            </a:r>
            <a:endParaRPr lang="en-US" dirty="0"/>
          </a:p>
          <a:p>
            <a:pPr lvl="1"/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sottolineati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chiavi</a:t>
            </a:r>
            <a:r>
              <a:rPr lang="en-US" dirty="0"/>
              <a:t> </a:t>
            </a:r>
            <a:r>
              <a:rPr lang="en-US" dirty="0" err="1"/>
              <a:t>primarie</a:t>
            </a:r>
            <a:endParaRPr lang="en-US" dirty="0"/>
          </a:p>
          <a:p>
            <a:pPr lvl="1"/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con un </a:t>
            </a:r>
            <a:r>
              <a:rPr lang="en-US" dirty="0" err="1"/>
              <a:t>doppio</a:t>
            </a:r>
            <a:r>
              <a:rPr lang="en-US" dirty="0"/>
              <a:t> </a:t>
            </a:r>
            <a:r>
              <a:rPr lang="en-US" dirty="0" err="1"/>
              <a:t>ovale</a:t>
            </a:r>
            <a:r>
              <a:rPr lang="en-US" dirty="0"/>
              <a:t> </a:t>
            </a:r>
            <a:r>
              <a:rPr lang="en-US" dirty="0" err="1"/>
              <a:t>rappresentano</a:t>
            </a:r>
            <a:r>
              <a:rPr lang="en-US" dirty="0"/>
              <a:t> </a:t>
            </a:r>
            <a:r>
              <a:rPr lang="en-US" dirty="0" err="1"/>
              <a:t>collezioni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293677"/>
            <a:ext cx="7543802" cy="174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8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Modello</a:t>
            </a:r>
            <a:r>
              <a:rPr lang="en-US" dirty="0"/>
              <a:t> quasi-ER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Entità</a:t>
            </a:r>
            <a:r>
              <a:rPr lang="en-US" dirty="0"/>
              <a:t> e </a:t>
            </a:r>
            <a:r>
              <a:rPr lang="en-US" dirty="0" err="1"/>
              <a:t>relazioni</a:t>
            </a:r>
            <a:r>
              <a:rPr lang="en-US" dirty="0"/>
              <a:t> con </a:t>
            </a:r>
            <a:r>
              <a:rPr lang="en-US" dirty="0" err="1"/>
              <a:t>doppio</a:t>
            </a:r>
            <a:r>
              <a:rPr lang="en-US" dirty="0"/>
              <a:t> </a:t>
            </a:r>
            <a:r>
              <a:rPr lang="en-US" dirty="0" err="1"/>
              <a:t>rettangolo</a:t>
            </a:r>
            <a:r>
              <a:rPr lang="en-US" dirty="0"/>
              <a:t> e </a:t>
            </a:r>
            <a:r>
              <a:rPr lang="en-US" dirty="0" err="1"/>
              <a:t>doppio</a:t>
            </a:r>
            <a:r>
              <a:rPr lang="en-US" dirty="0"/>
              <a:t> </a:t>
            </a:r>
            <a:r>
              <a:rPr lang="en-US" dirty="0" err="1"/>
              <a:t>rombo</a:t>
            </a:r>
            <a:r>
              <a:rPr lang="en-US" dirty="0"/>
              <a:t> </a:t>
            </a:r>
            <a:r>
              <a:rPr lang="en-US" dirty="0" err="1"/>
              <a:t>rappresentanto</a:t>
            </a:r>
            <a:r>
              <a:rPr lang="en-US" dirty="0"/>
              <a:t> </a:t>
            </a:r>
            <a:r>
              <a:rPr lang="en-US" dirty="0" err="1"/>
              <a:t>relazioni</a:t>
            </a:r>
            <a:r>
              <a:rPr lang="en-US" dirty="0"/>
              <a:t> </a:t>
            </a:r>
            <a:r>
              <a:rPr lang="en-US" i="1" dirty="0"/>
              <a:t>part-of</a:t>
            </a:r>
          </a:p>
          <a:p>
            <a:pPr lvl="1"/>
            <a:r>
              <a:rPr lang="en-US" dirty="0" err="1"/>
              <a:t>Un'istanza</a:t>
            </a:r>
            <a:r>
              <a:rPr lang="en-US" dirty="0"/>
              <a:t> di encoding non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esistere</a:t>
            </a:r>
            <a:r>
              <a:rPr lang="en-US" dirty="0"/>
              <a:t> </a:t>
            </a:r>
            <a:r>
              <a:rPr lang="en-US" dirty="0" err="1"/>
              <a:t>senza</a:t>
            </a:r>
            <a:r>
              <a:rPr lang="en-US" dirty="0"/>
              <a:t> </a:t>
            </a:r>
            <a:r>
              <a:rPr lang="en-US" dirty="0" err="1"/>
              <a:t>un'istanza</a:t>
            </a:r>
            <a:r>
              <a:rPr lang="en-US" dirty="0"/>
              <a:t> di video ad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associata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61" y="3361126"/>
            <a:ext cx="7543802" cy="178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5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e </a:t>
            </a:r>
            <a:r>
              <a:rPr lang="en-US" dirty="0" err="1"/>
              <a:t>utenti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29" y="2042838"/>
            <a:ext cx="8672660" cy="362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90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Video, </a:t>
            </a:r>
            <a:r>
              <a:rPr lang="en-US" dirty="0" err="1"/>
              <a:t>codifiche</a:t>
            </a:r>
            <a:r>
              <a:rPr lang="en-US" dirty="0"/>
              <a:t> e </a:t>
            </a:r>
            <a:r>
              <a:rPr lang="en-US" dirty="0" err="1"/>
              <a:t>attori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4" y="1962861"/>
            <a:ext cx="8352148" cy="384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8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video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2"/>
          <a:srcRect t="567"/>
          <a:stretch/>
        </p:blipFill>
        <p:spPr>
          <a:xfrm>
            <a:off x="2252263" y="1901109"/>
            <a:ext cx="4685193" cy="439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9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workflow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27" y="1845734"/>
            <a:ext cx="6613264" cy="430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9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logica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6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883" y="2673921"/>
            <a:ext cx="3166099" cy="3490519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Approccio</a:t>
            </a:r>
            <a:r>
              <a:rPr lang="en-US" dirty="0"/>
              <a:t> query-driven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concettuale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workflow </a:t>
            </a:r>
            <a:r>
              <a:rPr lang="en-US" dirty="0" err="1"/>
              <a:t>dell'applicazione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logico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ricavato</a:t>
            </a:r>
            <a:r>
              <a:rPr lang="en-US" dirty="0"/>
              <a:t> </a:t>
            </a:r>
            <a:r>
              <a:rPr lang="en-US" dirty="0" err="1"/>
              <a:t>seguendo</a:t>
            </a:r>
            <a:r>
              <a:rPr lang="en-US" dirty="0"/>
              <a:t> un </a:t>
            </a:r>
            <a:r>
              <a:rPr lang="en-US" dirty="0" err="1"/>
              <a:t>approccio</a:t>
            </a:r>
            <a:r>
              <a:rPr lang="en-US" dirty="0"/>
              <a:t> query-driven</a:t>
            </a:r>
          </a:p>
          <a:p>
            <a:pPr lvl="1"/>
            <a:r>
              <a:rPr lang="en-US" dirty="0" err="1"/>
              <a:t>Regole</a:t>
            </a:r>
            <a:r>
              <a:rPr lang="en-US" dirty="0"/>
              <a:t> di mapping </a:t>
            </a:r>
            <a:r>
              <a:rPr lang="en-US" dirty="0" err="1"/>
              <a:t>garantiscono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correttezza</a:t>
            </a:r>
            <a:r>
              <a:rPr lang="en-US" dirty="0"/>
              <a:t> del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logico</a:t>
            </a:r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ogni</a:t>
            </a:r>
            <a:r>
              <a:rPr lang="en-US" dirty="0"/>
              <a:t> query la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1"/>
            <a:r>
              <a:rPr lang="en-US" dirty="0"/>
              <a:t>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progettate</a:t>
            </a:r>
            <a:br>
              <a:rPr lang="en-US" dirty="0"/>
            </a:br>
            <a:r>
              <a:rPr lang="en-US" dirty="0"/>
              <a:t>per </a:t>
            </a:r>
            <a:r>
              <a:rPr lang="en-US" dirty="0" err="1"/>
              <a:t>garantire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corretta</a:t>
            </a:r>
            <a:r>
              <a:rPr lang="en-US" dirty="0"/>
              <a:t> </a:t>
            </a:r>
            <a:r>
              <a:rPr lang="en-US" dirty="0" err="1"/>
              <a:t>esecuzione</a:t>
            </a:r>
            <a:br>
              <a:rPr lang="en-US" dirty="0"/>
            </a:br>
            <a:r>
              <a:rPr lang="en-US" dirty="0" err="1"/>
              <a:t>delle</a:t>
            </a:r>
            <a:r>
              <a:rPr lang="en-US" dirty="0"/>
              <a:t> query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restituiscono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br>
              <a:rPr lang="en-US" dirty="0"/>
            </a:br>
            <a:r>
              <a:rPr lang="en-US" dirty="0" err="1"/>
              <a:t>nell'ordine</a:t>
            </a:r>
            <a:r>
              <a:rPr lang="en-US" dirty="0"/>
              <a:t> </a:t>
            </a:r>
            <a:r>
              <a:rPr lang="en-US" dirty="0" err="1"/>
              <a:t>corretto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logico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logico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workflow </a:t>
            </a:r>
            <a:r>
              <a:rPr lang="en-US" dirty="0" err="1"/>
              <a:t>dell'applicazione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logico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ricavato</a:t>
            </a:r>
            <a:r>
              <a:rPr lang="en-US" dirty="0"/>
              <a:t> </a:t>
            </a:r>
            <a:r>
              <a:rPr lang="en-US" dirty="0" err="1"/>
              <a:t>applicando</a:t>
            </a:r>
            <a:r>
              <a:rPr lang="en-US" dirty="0"/>
              <a:t> </a:t>
            </a:r>
            <a:r>
              <a:rPr lang="en-US" b="1" dirty="0"/>
              <a:t>in </a:t>
            </a:r>
            <a:r>
              <a:rPr lang="en-US" b="1" dirty="0" err="1"/>
              <a:t>ordine</a:t>
            </a:r>
            <a:r>
              <a:rPr lang="en-US" dirty="0"/>
              <a:t> le </a:t>
            </a:r>
            <a:r>
              <a:rPr lang="en-US" dirty="0" err="1"/>
              <a:t>seguenti</a:t>
            </a:r>
            <a:r>
              <a:rPr lang="en-US" dirty="0"/>
              <a:t> 5 </a:t>
            </a:r>
            <a:r>
              <a:rPr lang="en-US" dirty="0" err="1"/>
              <a:t>regole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riguardano</a:t>
            </a:r>
            <a:r>
              <a:rPr lang="en-US" dirty="0"/>
              <a:t>, </a:t>
            </a:r>
            <a:r>
              <a:rPr lang="en-US" dirty="0" err="1"/>
              <a:t>rispettivamente</a:t>
            </a:r>
            <a:r>
              <a:rPr lang="en-US" dirty="0"/>
              <a:t>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 err="1"/>
              <a:t>Entità</a:t>
            </a:r>
            <a:r>
              <a:rPr lang="en-US" dirty="0"/>
              <a:t> e </a:t>
            </a:r>
            <a:r>
              <a:rPr lang="en-US" dirty="0" err="1"/>
              <a:t>relazioni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ordinamento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chiave</a:t>
            </a:r>
            <a:endParaRPr lang="en-US" dirty="0"/>
          </a:p>
          <a:p>
            <a:pPr marL="544068" lvl="1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43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1</a:t>
            </a:r>
            <a:br>
              <a:rPr lang="en-US" dirty="0"/>
            </a:br>
            <a:r>
              <a:rPr lang="en-US" dirty="0" err="1"/>
              <a:t>Entità</a:t>
            </a:r>
            <a:r>
              <a:rPr lang="en-US" dirty="0"/>
              <a:t> e </a:t>
            </a:r>
            <a:r>
              <a:rPr lang="en-US" dirty="0" err="1"/>
              <a:t>relazioni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Traduzione</a:t>
            </a:r>
            <a:r>
              <a:rPr lang="en-US" dirty="0"/>
              <a:t> di </a:t>
            </a:r>
            <a:r>
              <a:rPr lang="en-US" dirty="0" err="1"/>
              <a:t>entità</a:t>
            </a:r>
            <a:endParaRPr lang="en-US" dirty="0"/>
          </a:p>
          <a:p>
            <a:pPr lvl="1"/>
            <a:r>
              <a:rPr lang="en-US" dirty="0"/>
              <a:t>Una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entità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Una </a:t>
            </a:r>
            <a:r>
              <a:rPr lang="en-US" dirty="0" err="1"/>
              <a:t>colonna</a:t>
            </a:r>
            <a:r>
              <a:rPr lang="en-US" dirty="0"/>
              <a:t> 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attributo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647279"/>
            <a:ext cx="7543802" cy="183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3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1</a:t>
            </a:r>
            <a:br>
              <a:rPr lang="en-US" dirty="0"/>
            </a:br>
            <a:r>
              <a:rPr lang="en-US" dirty="0" err="1"/>
              <a:t>Entità</a:t>
            </a:r>
            <a:r>
              <a:rPr lang="en-US" dirty="0"/>
              <a:t> e </a:t>
            </a:r>
            <a:r>
              <a:rPr lang="en-US" dirty="0" err="1"/>
              <a:t>relazioni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Traduzione</a:t>
            </a:r>
            <a:r>
              <a:rPr lang="en-US" dirty="0"/>
              <a:t> di </a:t>
            </a:r>
            <a:r>
              <a:rPr lang="en-US" dirty="0" err="1"/>
              <a:t>relazioni</a:t>
            </a:r>
            <a:endParaRPr lang="en-US" dirty="0"/>
          </a:p>
          <a:p>
            <a:pPr lvl="1"/>
            <a:r>
              <a:rPr lang="en-US" dirty="0"/>
              <a:t>Una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relazione</a:t>
            </a:r>
            <a:endParaRPr lang="en-US" dirty="0"/>
          </a:p>
          <a:p>
            <a:pPr lvl="1"/>
            <a:r>
              <a:rPr lang="en-US" dirty="0" err="1"/>
              <a:t>Attenzione</a:t>
            </a:r>
            <a:r>
              <a:rPr lang="en-US" dirty="0"/>
              <a:t>: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esistere</a:t>
            </a:r>
            <a:r>
              <a:rPr lang="en-US" dirty="0"/>
              <a:t> </a:t>
            </a:r>
            <a:r>
              <a:rPr lang="en-US" dirty="0" err="1"/>
              <a:t>soluzioni</a:t>
            </a:r>
            <a:r>
              <a:rPr lang="en-US" dirty="0"/>
              <a:t> diverse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quale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cardinalità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relazione</a:t>
            </a:r>
            <a:r>
              <a:rPr lang="en-US" dirty="0"/>
              <a:t> e dal </a:t>
            </a:r>
            <a:r>
              <a:rPr lang="en-US" dirty="0" err="1"/>
              <a:t>carico</a:t>
            </a:r>
            <a:r>
              <a:rPr lang="en-US" dirty="0"/>
              <a:t> di </a:t>
            </a:r>
            <a:r>
              <a:rPr lang="en-US" dirty="0" err="1"/>
              <a:t>lavoro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78" y="3665977"/>
            <a:ext cx="7378361" cy="239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3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2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 è un </a:t>
            </a:r>
            <a:r>
              <a:rPr lang="en-US" dirty="0" err="1"/>
              <a:t>insieme</a:t>
            </a:r>
            <a:r>
              <a:rPr lang="en-US" dirty="0"/>
              <a:t> </a:t>
            </a:r>
            <a:r>
              <a:rPr lang="en-US" dirty="0" err="1"/>
              <a:t>ordinato</a:t>
            </a:r>
            <a:r>
              <a:rPr lang="en-US" dirty="0"/>
              <a:t> di </a:t>
            </a:r>
            <a:r>
              <a:rPr lang="en-US" dirty="0" err="1"/>
              <a:t>colonne</a:t>
            </a:r>
            <a:r>
              <a:rPr lang="en-US" dirty="0"/>
              <a:t>, </a:t>
            </a:r>
            <a:r>
              <a:rPr lang="en-US" dirty="0" err="1"/>
              <a:t>costituito</a:t>
            </a:r>
            <a:r>
              <a:rPr lang="en-US" dirty="0"/>
              <a:t> da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r>
              <a:rPr lang="en-US" dirty="0"/>
              <a:t> e </a:t>
            </a:r>
            <a:r>
              <a:rPr lang="en-US" dirty="0" err="1"/>
              <a:t>colonne</a:t>
            </a:r>
            <a:r>
              <a:rPr lang="en-US" dirty="0"/>
              <a:t> di </a:t>
            </a:r>
            <a:r>
              <a:rPr lang="en-US" dirty="0" err="1"/>
              <a:t>raggruppamento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r>
              <a:rPr lang="en-US" dirty="0"/>
              <a:t> è </a:t>
            </a:r>
            <a:r>
              <a:rPr lang="en-US" dirty="0" err="1"/>
              <a:t>formato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(o </a:t>
            </a:r>
            <a:r>
              <a:rPr lang="en-US" dirty="0" err="1"/>
              <a:t>più</a:t>
            </a:r>
            <a:r>
              <a:rPr lang="en-US" dirty="0"/>
              <a:t>) </a:t>
            </a:r>
            <a:r>
              <a:rPr lang="en-US" dirty="0" err="1"/>
              <a:t>delle</a:t>
            </a:r>
            <a:r>
              <a:rPr lang="en-US" dirty="0"/>
              <a:t> prime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dichiarate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/>
              <a:t>Le query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includere</a:t>
            </a:r>
            <a:r>
              <a:rPr lang="en-US" dirty="0"/>
              <a:t> le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62" y="4237580"/>
            <a:ext cx="7543801" cy="76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01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2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le prime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/>
              <a:t>title</a:t>
            </a:r>
            <a:r>
              <a:rPr lang="en-US" dirty="0"/>
              <a:t> e </a:t>
            </a:r>
            <a:r>
              <a:rPr lang="en-US" i="1" dirty="0"/>
              <a:t>type</a:t>
            </a:r>
          </a:p>
          <a:p>
            <a:pPr lvl="1"/>
            <a:r>
              <a:rPr lang="en-US" dirty="0"/>
              <a:t>3 </a:t>
            </a:r>
            <a:r>
              <a:rPr lang="en-US" dirty="0" err="1"/>
              <a:t>possibili</a:t>
            </a:r>
            <a:r>
              <a:rPr lang="en-US" dirty="0"/>
              <a:t> </a:t>
            </a:r>
            <a:r>
              <a:rPr lang="en-US" dirty="0" err="1"/>
              <a:t>soluzioni</a:t>
            </a:r>
            <a:r>
              <a:rPr lang="en-US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7" y="3321715"/>
            <a:ext cx="7494963" cy="228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7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2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le prime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last_name</a:t>
            </a:r>
            <a:r>
              <a:rPr lang="en-US" i="1" dirty="0"/>
              <a:t> </a:t>
            </a:r>
            <a:r>
              <a:rPr lang="en-US" dirty="0"/>
              <a:t>e </a:t>
            </a:r>
            <a:r>
              <a:rPr lang="en-US" i="1" dirty="0" err="1"/>
              <a:t>first_name</a:t>
            </a:r>
            <a:endParaRPr lang="en-US" i="1" dirty="0"/>
          </a:p>
          <a:p>
            <a:pPr lvl="1"/>
            <a:r>
              <a:rPr lang="en-US" dirty="0"/>
              <a:t>2 </a:t>
            </a:r>
            <a:r>
              <a:rPr lang="en-US" dirty="0" err="1"/>
              <a:t>possibili</a:t>
            </a:r>
            <a:r>
              <a:rPr lang="en-US" dirty="0"/>
              <a:t> </a:t>
            </a:r>
            <a:r>
              <a:rPr lang="en-US" dirty="0" err="1"/>
              <a:t>soluzioni</a:t>
            </a:r>
            <a:r>
              <a:rPr lang="en-US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12" y="3202083"/>
            <a:ext cx="7358093" cy="26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3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3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endParaRPr lang="en-US" dirty="0"/>
          </a:p>
          <a:p>
            <a:pPr lvl="1"/>
            <a:r>
              <a:rPr lang="en-US" dirty="0"/>
              <a:t>Sulla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r>
              <a:rPr lang="en-US" dirty="0"/>
              <a:t> è </a:t>
            </a:r>
            <a:r>
              <a:rPr lang="en-US" dirty="0" err="1"/>
              <a:t>possibile</a:t>
            </a:r>
            <a:r>
              <a:rPr lang="en-US" dirty="0"/>
              <a:t> fare solo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  <a:p>
            <a:pPr lvl="1"/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r>
              <a:rPr lang="en-US" dirty="0"/>
              <a:t> </a:t>
            </a:r>
            <a:r>
              <a:rPr lang="en-US" dirty="0" err="1"/>
              <a:t>vanno</a:t>
            </a:r>
            <a:r>
              <a:rPr lang="en-US" dirty="0"/>
              <a:t> </a:t>
            </a:r>
            <a:r>
              <a:rPr lang="en-US" dirty="0" err="1"/>
              <a:t>dichiarati</a:t>
            </a:r>
            <a:r>
              <a:rPr lang="en-US" dirty="0"/>
              <a:t> come </a:t>
            </a:r>
            <a:r>
              <a:rPr lang="en-US" dirty="0" err="1"/>
              <a:t>colonne</a:t>
            </a:r>
            <a:r>
              <a:rPr lang="en-US" dirty="0"/>
              <a:t> di clustering, DOPO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fare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esatte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451226"/>
            <a:ext cx="7586404" cy="75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69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3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last_name</a:t>
            </a:r>
            <a:r>
              <a:rPr lang="en-US" i="1" dirty="0"/>
              <a:t> = ? </a:t>
            </a:r>
            <a:r>
              <a:rPr lang="en-US" dirty="0"/>
              <a:t>e </a:t>
            </a:r>
            <a:r>
              <a:rPr lang="en-US" i="1" dirty="0" err="1"/>
              <a:t>registration_date</a:t>
            </a:r>
            <a:r>
              <a:rPr lang="en-US" i="1" dirty="0"/>
              <a:t> &gt; ?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063284"/>
            <a:ext cx="7471214" cy="193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49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3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ricerche</a:t>
            </a:r>
            <a:r>
              <a:rPr lang="en-US" dirty="0"/>
              <a:t> </a:t>
            </a:r>
            <a:r>
              <a:rPr lang="en-US" dirty="0" err="1"/>
              <a:t>inesatte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user_id</a:t>
            </a:r>
            <a:r>
              <a:rPr lang="en-US" i="1" dirty="0"/>
              <a:t> = ? </a:t>
            </a:r>
            <a:r>
              <a:rPr lang="en-US" dirty="0"/>
              <a:t>e </a:t>
            </a:r>
            <a:r>
              <a:rPr lang="en-US" i="1" dirty="0" err="1"/>
              <a:t>uploaded_timestamp</a:t>
            </a:r>
            <a:r>
              <a:rPr lang="en-US" i="1" dirty="0"/>
              <a:t> &gt; ?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837957"/>
            <a:ext cx="7476109" cy="27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28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4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ordinamenti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ordinamenti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, le </a:t>
            </a:r>
            <a:r>
              <a:rPr lang="en-US" dirty="0" err="1"/>
              <a:t>partizioni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ordinate 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di </a:t>
            </a:r>
            <a:r>
              <a:rPr lang="en-US" dirty="0" err="1"/>
              <a:t>raggruppamento</a:t>
            </a:r>
            <a:r>
              <a:rPr lang="en-US" dirty="0"/>
              <a:t>, </a:t>
            </a:r>
            <a:r>
              <a:rPr lang="en-US" dirty="0" err="1"/>
              <a:t>nell'ordine</a:t>
            </a:r>
            <a:r>
              <a:rPr lang="en-US" dirty="0"/>
              <a:t> in cui </a:t>
            </a:r>
            <a:r>
              <a:rPr lang="en-US" dirty="0" err="1"/>
              <a:t>sono</a:t>
            </a:r>
            <a:r>
              <a:rPr lang="en-US" dirty="0"/>
              <a:t> state </a:t>
            </a:r>
            <a:r>
              <a:rPr lang="en-US" dirty="0" err="1"/>
              <a:t>dichiarate</a:t>
            </a:r>
            <a:endParaRPr lang="en-US" dirty="0"/>
          </a:p>
          <a:p>
            <a:pPr lvl="1"/>
            <a:r>
              <a:rPr lang="en-US" dirty="0" err="1"/>
              <a:t>L'ordinamento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specificato</a:t>
            </a:r>
            <a:r>
              <a:rPr lang="en-US" dirty="0"/>
              <a:t> in </a:t>
            </a:r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creazione</a:t>
            </a:r>
            <a:endParaRPr lang="en-US" dirty="0"/>
          </a:p>
          <a:p>
            <a:pPr lvl="1"/>
            <a:r>
              <a:rPr lang="en-US" dirty="0"/>
              <a:t>Non </a:t>
            </a:r>
            <a:r>
              <a:rPr lang="en-US" dirty="0" err="1"/>
              <a:t>esiste</a:t>
            </a:r>
            <a:r>
              <a:rPr lang="en-US" dirty="0"/>
              <a:t> la </a:t>
            </a:r>
            <a:r>
              <a:rPr lang="en-US" dirty="0" err="1"/>
              <a:t>clausola</a:t>
            </a:r>
            <a:r>
              <a:rPr lang="en-US" dirty="0"/>
              <a:t> di ORDER BY in CQL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20" y="3857414"/>
            <a:ext cx="7543943" cy="77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2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4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ordinamenti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ordinamenti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last_name</a:t>
            </a:r>
            <a:r>
              <a:rPr lang="en-US" i="1" dirty="0"/>
              <a:t> = ? </a:t>
            </a:r>
            <a:r>
              <a:rPr lang="en-US" dirty="0"/>
              <a:t>e </a:t>
            </a:r>
            <a:r>
              <a:rPr lang="en-US" i="1" dirty="0" err="1"/>
              <a:t>registration_date</a:t>
            </a:r>
            <a:r>
              <a:rPr lang="en-US" i="1" dirty="0"/>
              <a:t> &gt; ?</a:t>
            </a:r>
          </a:p>
          <a:p>
            <a:pPr lvl="1"/>
            <a:r>
              <a:rPr lang="en-US" dirty="0" err="1"/>
              <a:t>Ordinamento</a:t>
            </a:r>
            <a:r>
              <a:rPr lang="en-US" dirty="0"/>
              <a:t> per </a:t>
            </a:r>
            <a:r>
              <a:rPr lang="en-US" i="1" dirty="0" err="1"/>
              <a:t>registration_date</a:t>
            </a:r>
            <a:r>
              <a:rPr lang="en-US" i="1" dirty="0"/>
              <a:t> </a:t>
            </a:r>
            <a:r>
              <a:rPr lang="en-US" dirty="0" err="1"/>
              <a:t>crescente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228484"/>
            <a:ext cx="7586404" cy="17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30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4 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per </a:t>
            </a:r>
            <a:r>
              <a:rPr lang="en-US" dirty="0" err="1"/>
              <a:t>ordinamenti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cui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ordinamenti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user_id</a:t>
            </a:r>
            <a:r>
              <a:rPr lang="en-US" i="1" dirty="0"/>
              <a:t> = ? </a:t>
            </a:r>
            <a:r>
              <a:rPr lang="en-US" dirty="0"/>
              <a:t>e </a:t>
            </a:r>
            <a:r>
              <a:rPr lang="en-US" i="1" dirty="0" err="1"/>
              <a:t>uploaded_timestamp</a:t>
            </a:r>
            <a:r>
              <a:rPr lang="en-US" i="1" dirty="0"/>
              <a:t> &gt; ?</a:t>
            </a:r>
          </a:p>
          <a:p>
            <a:pPr lvl="1"/>
            <a:r>
              <a:rPr lang="en-US" dirty="0" err="1"/>
              <a:t>Ordinamento</a:t>
            </a:r>
            <a:r>
              <a:rPr lang="en-US" dirty="0"/>
              <a:t> per </a:t>
            </a:r>
            <a:r>
              <a:rPr lang="en-US" i="1" dirty="0" err="1"/>
              <a:t>uploaded_timestamp</a:t>
            </a:r>
            <a:r>
              <a:rPr lang="en-US" i="1" dirty="0"/>
              <a:t> </a:t>
            </a:r>
            <a:r>
              <a:rPr lang="en-US" dirty="0" err="1"/>
              <a:t>decrescente</a:t>
            </a:r>
            <a:r>
              <a:rPr lang="en-US" dirty="0"/>
              <a:t> e </a:t>
            </a:r>
            <a:r>
              <a:rPr lang="en-US" i="1" dirty="0" err="1"/>
              <a:t>video_id</a:t>
            </a:r>
            <a:r>
              <a:rPr lang="en-US" i="1" dirty="0"/>
              <a:t> </a:t>
            </a:r>
            <a:r>
              <a:rPr lang="en-US" dirty="0" err="1"/>
              <a:t>crescente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146391"/>
            <a:ext cx="7586404" cy="272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5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chiave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dichiarati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 err="1"/>
              <a:t>Importante</a:t>
            </a:r>
            <a:r>
              <a:rPr lang="en-US" dirty="0"/>
              <a:t> per </a:t>
            </a:r>
            <a:r>
              <a:rPr lang="en-US" dirty="0" err="1"/>
              <a:t>mantenere</a:t>
            </a:r>
            <a:r>
              <a:rPr lang="en-US" dirty="0"/>
              <a:t> la </a:t>
            </a:r>
            <a:r>
              <a:rPr lang="en-US" dirty="0" err="1"/>
              <a:t>granularità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per la </a:t>
            </a:r>
            <a:r>
              <a:rPr lang="en-US" dirty="0" err="1"/>
              <a:t>tabella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8" y="2852870"/>
            <a:ext cx="7543801" cy="3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95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Regola</a:t>
            </a:r>
            <a:r>
              <a:rPr lang="en-US" dirty="0"/>
              <a:t> 5</a:t>
            </a:r>
            <a:br>
              <a:rPr lang="en-US" dirty="0"/>
            </a:b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chiave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dichiarati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  <a:p>
            <a:pPr lvl="1"/>
            <a:r>
              <a:rPr lang="en-US" dirty="0" err="1"/>
              <a:t>Importante</a:t>
            </a:r>
            <a:r>
              <a:rPr lang="en-US" dirty="0"/>
              <a:t> per </a:t>
            </a:r>
            <a:r>
              <a:rPr lang="en-US" dirty="0" err="1"/>
              <a:t>mantenere</a:t>
            </a:r>
            <a:r>
              <a:rPr lang="en-US" dirty="0"/>
              <a:t> la </a:t>
            </a:r>
            <a:r>
              <a:rPr lang="en-US" dirty="0" err="1"/>
              <a:t>granularità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per la </a:t>
            </a:r>
            <a:r>
              <a:rPr lang="en-US" dirty="0" err="1"/>
              <a:t>tabella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981480"/>
            <a:ext cx="7543801" cy="25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36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completo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0" y="2381390"/>
            <a:ext cx="9021170" cy="24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11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679212"/>
            <a:ext cx="7586404" cy="1807062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7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seguente</a:t>
            </a:r>
            <a:r>
              <a:rPr lang="en-US" dirty="0"/>
              <a:t> schema </a:t>
            </a:r>
            <a:r>
              <a:rPr lang="en-US" dirty="0" err="1"/>
              <a:t>concettuale</a:t>
            </a:r>
            <a:r>
              <a:rPr lang="en-US" dirty="0"/>
              <a:t>, </a:t>
            </a:r>
            <a:r>
              <a:rPr lang="en-US" dirty="0" err="1"/>
              <a:t>definire</a:t>
            </a:r>
            <a:r>
              <a:rPr lang="en-US" dirty="0"/>
              <a:t> 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rispondono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</a:t>
            </a:r>
            <a:r>
              <a:rPr lang="en-US" dirty="0" err="1"/>
              <a:t>seguenti</a:t>
            </a:r>
            <a:r>
              <a:rPr lang="en-US" dirty="0"/>
              <a:t> query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Q1: Dato un tag, </a:t>
            </a:r>
            <a:r>
              <a:rPr lang="en-US" dirty="0" err="1"/>
              <a:t>trova</a:t>
            </a:r>
            <a:r>
              <a:rPr lang="en-US" dirty="0"/>
              <a:t> tutti </a:t>
            </a:r>
            <a:r>
              <a:rPr lang="en-US" dirty="0" err="1"/>
              <a:t>i</a:t>
            </a:r>
            <a:r>
              <a:rPr lang="en-US" dirty="0"/>
              <a:t> video (</a:t>
            </a:r>
            <a:r>
              <a:rPr lang="en-US" dirty="0" err="1"/>
              <a:t>mostra</a:t>
            </a:r>
            <a:r>
              <a:rPr lang="en-US" dirty="0"/>
              <a:t> prima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ultimi</a:t>
            </a:r>
            <a:r>
              <a:rPr lang="en-US" dirty="0"/>
              <a:t> </a:t>
            </a:r>
            <a:r>
              <a:rPr lang="en-US" dirty="0" err="1"/>
              <a:t>caricati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Q2: </a:t>
            </a:r>
            <a:r>
              <a:rPr lang="en-US" dirty="0" err="1"/>
              <a:t>Trova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di 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attore</a:t>
            </a:r>
            <a:r>
              <a:rPr lang="en-US" dirty="0"/>
              <a:t> in un </a:t>
            </a:r>
            <a:r>
              <a:rPr lang="en-US" dirty="0" err="1"/>
              <a:t>dato</a:t>
            </a:r>
            <a:r>
              <a:rPr lang="en-US" dirty="0"/>
              <a:t> range di </a:t>
            </a:r>
            <a:r>
              <a:rPr lang="en-US" dirty="0" err="1"/>
              <a:t>anni</a:t>
            </a:r>
            <a:r>
              <a:rPr lang="en-US" dirty="0"/>
              <a:t> (</a:t>
            </a:r>
            <a:r>
              <a:rPr lang="en-US" dirty="0" err="1"/>
              <a:t>mostra</a:t>
            </a:r>
            <a:r>
              <a:rPr lang="en-US" dirty="0"/>
              <a:t> prima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recenti</a:t>
            </a:r>
            <a:r>
              <a:rPr lang="en-US" dirty="0"/>
              <a:t> e </a:t>
            </a:r>
            <a:r>
              <a:rPr lang="en-US" dirty="0" err="1"/>
              <a:t>ordina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per </a:t>
            </a:r>
            <a:r>
              <a:rPr lang="en-US" dirty="0" err="1"/>
              <a:t>titolo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Q3. Come Q2, ma </a:t>
            </a:r>
            <a:r>
              <a:rPr lang="en-US" dirty="0" err="1"/>
              <a:t>filtrando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per </a:t>
            </a:r>
            <a:r>
              <a:rPr lang="en-US" dirty="0" err="1"/>
              <a:t>genere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21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7</a:t>
            </a:r>
          </a:p>
        </p:txBody>
      </p:sp>
      <p:graphicFrame>
        <p:nvGraphicFramePr>
          <p:cNvPr id="6" name="Segnaposto contenut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114408"/>
              </p:ext>
            </p:extLst>
          </p:nvPr>
        </p:nvGraphicFramePr>
        <p:xfrm>
          <a:off x="1065231" y="2413259"/>
          <a:ext cx="7145515" cy="3110844"/>
        </p:xfrm>
        <a:graphic>
          <a:graphicData uri="http://schemas.openxmlformats.org/drawingml/2006/table">
            <a:tbl>
              <a:tblPr/>
              <a:tblGrid>
                <a:gridCol w="173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3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80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 dirty="0" err="1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videos_by_tag</a:t>
                      </a:r>
                      <a:endParaRPr lang="it-IT" sz="1600" b="1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videos_by_actor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videos_by_genre_actor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actor_name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genre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timestamp</a:t>
                      </a:r>
                      <a:endParaRPr lang="it-IT" sz="1600" b="1" i="0" u="none" strike="noStrike" dirty="0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release_year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actor_name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video_id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release_year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user_id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video_id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character_name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video_id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character_name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release_year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{genre}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{genre}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{tags}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{genre}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804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{tags}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{tags}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 dirty="0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095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statiche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Segnaposto contenuto 2"/>
          <p:cNvSpPr txBox="1">
            <a:spLocks/>
          </p:cNvSpPr>
          <p:nvPr/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 </a:t>
            </a: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 (</a:t>
            </a:r>
            <a:r>
              <a:rPr lang="en-US" dirty="0" err="1"/>
              <a:t>partizionamento</a:t>
            </a:r>
            <a:r>
              <a:rPr lang="en-US" dirty="0"/>
              <a:t> + </a:t>
            </a:r>
            <a:r>
              <a:rPr lang="en-US" dirty="0" err="1"/>
              <a:t>raggruppamento</a:t>
            </a:r>
            <a:r>
              <a:rPr lang="en-US" dirty="0"/>
              <a:t>) </a:t>
            </a:r>
            <a:r>
              <a:rPr lang="en-US" dirty="0" err="1"/>
              <a:t>consente</a:t>
            </a:r>
            <a:r>
              <a:rPr lang="en-US" dirty="0"/>
              <a:t> di </a:t>
            </a:r>
            <a:r>
              <a:rPr lang="en-US" dirty="0" err="1"/>
              <a:t>memorizzare</a:t>
            </a:r>
            <a:r>
              <a:rPr lang="en-US" dirty="0"/>
              <a:t> </a:t>
            </a:r>
            <a:r>
              <a:rPr lang="en-US" dirty="0" err="1"/>
              <a:t>pù</a:t>
            </a:r>
            <a:r>
              <a:rPr lang="en-US" dirty="0"/>
              <a:t>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partizione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è </a:t>
            </a:r>
            <a:r>
              <a:rPr lang="en-US" dirty="0" err="1"/>
              <a:t>funzionalmente</a:t>
            </a:r>
            <a:r>
              <a:rPr lang="en-US" dirty="0"/>
              <a:t> </a:t>
            </a:r>
            <a:r>
              <a:rPr lang="en-US" dirty="0" err="1"/>
              <a:t>determinata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r>
              <a:rPr lang="en-US" dirty="0"/>
              <a:t>, è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dichiararla</a:t>
            </a:r>
            <a:r>
              <a:rPr lang="en-US" dirty="0"/>
              <a:t> come </a:t>
            </a:r>
            <a:r>
              <a:rPr lang="en-US" dirty="0" err="1"/>
              <a:t>statica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modo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ne </a:t>
            </a:r>
            <a:r>
              <a:rPr lang="en-US" dirty="0" err="1"/>
              <a:t>sarà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per </a:t>
            </a:r>
            <a:r>
              <a:rPr lang="en-US" dirty="0" err="1"/>
              <a:t>partizione</a:t>
            </a:r>
            <a:r>
              <a:rPr lang="en-US" dirty="0"/>
              <a:t>, non 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riga</a:t>
            </a:r>
            <a:endParaRPr lang="en-US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448" y="2555448"/>
            <a:ext cx="4972822" cy="21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14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2"/>
          <p:cNvSpPr txBox="1">
            <a:spLocks/>
          </p:cNvSpPr>
          <p:nvPr/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usarle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statiche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52914"/>
            <a:ext cx="7569160" cy="358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44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2"/>
          <p:cNvSpPr txBox="1">
            <a:spLocks/>
          </p:cNvSpPr>
          <p:nvPr/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Quando</a:t>
            </a:r>
            <a:r>
              <a:rPr lang="en-US" dirty="0"/>
              <a:t> non </a:t>
            </a:r>
            <a:r>
              <a:rPr lang="en-US" dirty="0" err="1"/>
              <a:t>usarle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statiche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48312"/>
            <a:ext cx="7586403" cy="319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68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01" y="2140081"/>
            <a:ext cx="8622860" cy="307294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8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764860" cy="44230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seguente</a:t>
            </a:r>
            <a:r>
              <a:rPr lang="en-US" dirty="0"/>
              <a:t> schema </a:t>
            </a:r>
            <a:r>
              <a:rPr lang="en-US" dirty="0" err="1"/>
              <a:t>concettuale</a:t>
            </a:r>
            <a:r>
              <a:rPr lang="en-US" dirty="0"/>
              <a:t>, </a:t>
            </a:r>
            <a:r>
              <a:rPr lang="en-US" dirty="0" err="1"/>
              <a:t>definire</a:t>
            </a:r>
            <a:r>
              <a:rPr lang="en-US" dirty="0"/>
              <a:t> 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rispondono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</a:t>
            </a:r>
            <a:r>
              <a:rPr lang="en-US" dirty="0" err="1"/>
              <a:t>seguenti</a:t>
            </a:r>
            <a:r>
              <a:rPr lang="en-US" dirty="0"/>
              <a:t> query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sz="3000" dirty="0"/>
          </a:p>
          <a:p>
            <a:pPr lvl="1"/>
            <a:endParaRPr lang="en-US" dirty="0"/>
          </a:p>
          <a:p>
            <a:pPr lvl="1"/>
            <a:endParaRPr lang="en-US" sz="1200" dirty="0"/>
          </a:p>
          <a:p>
            <a:pPr lvl="1"/>
            <a:r>
              <a:rPr lang="en-US" dirty="0"/>
              <a:t>Q1: </a:t>
            </a:r>
            <a:r>
              <a:rPr lang="en-US" dirty="0" err="1"/>
              <a:t>Trova</a:t>
            </a:r>
            <a:r>
              <a:rPr lang="en-US" dirty="0"/>
              <a:t> </a:t>
            </a:r>
            <a:r>
              <a:rPr lang="en-US" dirty="0" err="1"/>
              <a:t>tutte</a:t>
            </a:r>
            <a:r>
              <a:rPr lang="en-US" dirty="0"/>
              <a:t> le playlist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proprietario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un range di date di </a:t>
            </a:r>
            <a:r>
              <a:rPr lang="en-US" dirty="0" err="1"/>
              <a:t>modifica</a:t>
            </a:r>
            <a:r>
              <a:rPr lang="en-US" dirty="0"/>
              <a:t> (</a:t>
            </a:r>
            <a:r>
              <a:rPr lang="en-US" dirty="0" err="1"/>
              <a:t>mostra</a:t>
            </a:r>
            <a:r>
              <a:rPr lang="en-US" dirty="0"/>
              <a:t> prima </a:t>
            </a:r>
            <a:r>
              <a:rPr lang="en-US" dirty="0" err="1"/>
              <a:t>quelle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di </a:t>
            </a:r>
            <a:r>
              <a:rPr lang="en-US" dirty="0" err="1"/>
              <a:t>recente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Q2: </a:t>
            </a:r>
            <a:r>
              <a:rPr lang="en-US" dirty="0" err="1"/>
              <a:t>Trova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canali</a:t>
            </a:r>
            <a:r>
              <a:rPr lang="en-US" dirty="0"/>
              <a:t> (ordinate </a:t>
            </a:r>
            <a:r>
              <a:rPr lang="en-US" dirty="0" err="1"/>
              <a:t>alfabeticamente</a:t>
            </a:r>
            <a:r>
              <a:rPr lang="en-US" dirty="0"/>
              <a:t>) a cui 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utente</a:t>
            </a:r>
            <a:r>
              <a:rPr lang="en-US" dirty="0"/>
              <a:t> è </a:t>
            </a:r>
            <a:r>
              <a:rPr lang="en-US" dirty="0" err="1"/>
              <a:t>registrato</a:t>
            </a:r>
            <a:endParaRPr lang="en-US" dirty="0"/>
          </a:p>
          <a:p>
            <a:pPr lvl="1"/>
            <a:r>
              <a:rPr lang="en-US" dirty="0"/>
              <a:t>Q3. </a:t>
            </a:r>
            <a:r>
              <a:rPr lang="en-US" dirty="0" err="1"/>
              <a:t>Trova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</a:t>
            </a:r>
            <a:r>
              <a:rPr lang="en-US" dirty="0" err="1"/>
              <a:t>contenuti</a:t>
            </a:r>
            <a:r>
              <a:rPr lang="en-US" dirty="0"/>
              <a:t> in </a:t>
            </a:r>
            <a:r>
              <a:rPr lang="en-US" dirty="0" err="1"/>
              <a:t>uno</a:t>
            </a:r>
            <a:r>
              <a:rPr lang="en-US" dirty="0"/>
              <a:t> </a:t>
            </a:r>
            <a:r>
              <a:rPr lang="en-US" dirty="0" err="1"/>
              <a:t>specifico</a:t>
            </a:r>
            <a:r>
              <a:rPr lang="en-US" dirty="0"/>
              <a:t> </a:t>
            </a:r>
            <a:r>
              <a:rPr lang="en-US" dirty="0" err="1"/>
              <a:t>canale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/>
              <a:t> 8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387598"/>
              </p:ext>
            </p:extLst>
          </p:nvPr>
        </p:nvGraphicFramePr>
        <p:xfrm>
          <a:off x="927834" y="2526386"/>
          <a:ext cx="7334052" cy="2526872"/>
        </p:xfrm>
        <a:graphic>
          <a:graphicData uri="http://schemas.openxmlformats.org/drawingml/2006/table">
            <a:tbl>
              <a:tblPr/>
              <a:tblGrid>
                <a:gridCol w="1871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10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77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58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 dirty="0" err="1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playlist_by_owner</a:t>
                      </a:r>
                      <a:endParaRPr lang="it-IT" sz="1600" b="1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channels_by_subscriber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600" b="1" i="0" u="none" strike="noStrike" dirty="0" err="1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videos_by_channel</a:t>
                      </a:r>
                      <a:endParaRPr lang="it-IT" sz="1600" b="1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subscriber_id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modified_timestamp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channel_name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video_id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channel_name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first_name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last_name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registration_date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59"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1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600" b="1" i="0" u="none" strike="noStrike" dirty="0">
                        <a:solidFill>
                          <a:srgbClr val="BF8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93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fisica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regole</a:t>
            </a:r>
            <a:r>
              <a:rPr lang="en-US" dirty="0"/>
              <a:t> di </a:t>
            </a:r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definiscono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i="1" dirty="0"/>
              <a:t>best practices </a:t>
            </a:r>
            <a:r>
              <a:rPr lang="en-US" dirty="0"/>
              <a:t>per </a:t>
            </a:r>
            <a:r>
              <a:rPr lang="en-US" dirty="0" err="1"/>
              <a:t>costruire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coerenti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requisiti</a:t>
            </a:r>
            <a:r>
              <a:rPr lang="en-US" dirty="0"/>
              <a:t> </a:t>
            </a:r>
            <a:r>
              <a:rPr lang="en-US" dirty="0" err="1"/>
              <a:t>dell'applicazione</a:t>
            </a:r>
            <a:endParaRPr lang="en-US" dirty="0"/>
          </a:p>
          <a:p>
            <a:r>
              <a:rPr lang="en-US" dirty="0" err="1"/>
              <a:t>Tuttavia</a:t>
            </a:r>
            <a:r>
              <a:rPr lang="en-US" dirty="0"/>
              <a:t>, </a:t>
            </a:r>
            <a:r>
              <a:rPr lang="en-US" dirty="0" err="1"/>
              <a:t>rimane</a:t>
            </a:r>
            <a:r>
              <a:rPr lang="en-US" dirty="0"/>
              <a:t> del </a:t>
            </a:r>
            <a:r>
              <a:rPr lang="en-US" dirty="0" err="1"/>
              <a:t>margine</a:t>
            </a:r>
            <a:r>
              <a:rPr lang="en-US" dirty="0"/>
              <a:t> per </a:t>
            </a:r>
            <a:r>
              <a:rPr lang="en-US" dirty="0" err="1"/>
              <a:t>ottimizzare</a:t>
            </a:r>
            <a:r>
              <a:rPr lang="en-US" dirty="0"/>
              <a:t> le </a:t>
            </a:r>
            <a:r>
              <a:rPr lang="en-US" dirty="0" err="1"/>
              <a:t>tabelle</a:t>
            </a:r>
            <a:r>
              <a:rPr lang="en-US" dirty="0"/>
              <a:t> dal </a:t>
            </a:r>
            <a:r>
              <a:rPr lang="en-US" dirty="0" err="1"/>
              <a:t>punto</a:t>
            </a:r>
            <a:r>
              <a:rPr lang="en-US" dirty="0"/>
              <a:t> di vista </a:t>
            </a:r>
            <a:r>
              <a:rPr lang="en-US" dirty="0" err="1"/>
              <a:t>dell'efficienza</a:t>
            </a:r>
            <a:r>
              <a:rPr lang="en-US" dirty="0"/>
              <a:t>, </a:t>
            </a:r>
            <a:r>
              <a:rPr lang="en-US" dirty="0" err="1"/>
              <a:t>considerando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limitazioni</a:t>
            </a:r>
            <a:r>
              <a:rPr lang="en-US" dirty="0"/>
              <a:t> del database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risorse</a:t>
            </a:r>
            <a:r>
              <a:rPr lang="en-US" dirty="0"/>
              <a:t> del cluster (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nodi</a:t>
            </a:r>
            <a:r>
              <a:rPr lang="en-US" dirty="0"/>
              <a:t>,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disco, </a:t>
            </a:r>
            <a:r>
              <a:rPr lang="en-US" dirty="0" err="1"/>
              <a:t>memoria</a:t>
            </a:r>
            <a:r>
              <a:rPr lang="en-US" dirty="0"/>
              <a:t>, ..)</a:t>
            </a:r>
          </a:p>
          <a:p>
            <a:pPr lvl="1"/>
            <a:r>
              <a:rPr lang="en-US" dirty="0" err="1"/>
              <a:t>Eventuali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non </a:t>
            </a:r>
            <a:r>
              <a:rPr lang="en-US" dirty="0" err="1"/>
              <a:t>supportate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dal DBMS</a:t>
            </a:r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83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Dimensione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partizioni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Uno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importanti</a:t>
            </a:r>
            <a:r>
              <a:rPr lang="en-US" dirty="0"/>
              <a:t> da </a:t>
            </a:r>
            <a:r>
              <a:rPr lang="en-US" dirty="0" err="1"/>
              <a:t>controllare</a:t>
            </a:r>
            <a:endParaRPr lang="en-US" dirty="0"/>
          </a:p>
          <a:p>
            <a:pPr lvl="1"/>
            <a:r>
              <a:rPr lang="en-US" dirty="0"/>
              <a:t>Una </a:t>
            </a:r>
            <a:r>
              <a:rPr lang="en-US" dirty="0" err="1"/>
              <a:t>partizione</a:t>
            </a:r>
            <a:r>
              <a:rPr lang="en-US" dirty="0"/>
              <a:t> è </a:t>
            </a:r>
            <a:r>
              <a:rPr lang="en-US" dirty="0" err="1"/>
              <a:t>atomica</a:t>
            </a:r>
            <a:r>
              <a:rPr lang="en-US" dirty="0"/>
              <a:t>, </a:t>
            </a:r>
            <a:r>
              <a:rPr lang="en-US" dirty="0" err="1"/>
              <a:t>indivisibile</a:t>
            </a:r>
            <a:endParaRPr lang="en-US" dirty="0"/>
          </a:p>
          <a:p>
            <a:pPr lvl="1"/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risidere</a:t>
            </a:r>
            <a:r>
              <a:rPr lang="en-US" dirty="0"/>
              <a:t> </a:t>
            </a:r>
            <a:r>
              <a:rPr lang="en-US" dirty="0" err="1"/>
              <a:t>interamente</a:t>
            </a:r>
            <a:r>
              <a:rPr lang="en-US" dirty="0"/>
              <a:t> in un </a:t>
            </a:r>
            <a:r>
              <a:rPr lang="en-US" dirty="0" err="1"/>
              <a:t>nodo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Limite</a:t>
            </a:r>
            <a:r>
              <a:rPr lang="en-US" dirty="0"/>
              <a:t> di Cassandra: </a:t>
            </a:r>
            <a:r>
              <a:rPr lang="en-US" dirty="0" err="1"/>
              <a:t>massimo</a:t>
            </a:r>
            <a:r>
              <a:rPr lang="en-US" dirty="0"/>
              <a:t> 2 </a:t>
            </a:r>
            <a:r>
              <a:rPr lang="en-US" dirty="0" err="1"/>
              <a:t>miliardi</a:t>
            </a:r>
            <a:r>
              <a:rPr lang="en-US" dirty="0"/>
              <a:t> di </a:t>
            </a:r>
            <a:r>
              <a:rPr lang="en-US" dirty="0" err="1"/>
              <a:t>colonne</a:t>
            </a:r>
            <a:r>
              <a:rPr lang="en-US" dirty="0"/>
              <a:t> per </a:t>
            </a:r>
            <a:r>
              <a:rPr lang="en-US" dirty="0" err="1"/>
              <a:t>partizione</a:t>
            </a:r>
            <a:endParaRPr lang="en-US" dirty="0"/>
          </a:p>
          <a:p>
            <a:pPr lvl="1"/>
            <a:r>
              <a:rPr lang="en-US" dirty="0"/>
              <a:t>Best practice: non </a:t>
            </a:r>
            <a:r>
              <a:rPr lang="en-US" dirty="0" err="1"/>
              <a:t>superare</a:t>
            </a:r>
            <a:r>
              <a:rPr lang="en-US" dirty="0"/>
              <a:t> </a:t>
            </a:r>
            <a:r>
              <a:rPr lang="en-US" dirty="0" err="1"/>
              <a:t>l'ordine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centinaia</a:t>
            </a:r>
            <a:r>
              <a:rPr lang="en-US" dirty="0"/>
              <a:t> di MB per </a:t>
            </a:r>
            <a:r>
              <a:rPr lang="en-US"/>
              <a:t>partizione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7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Ridondanza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/>
              <a:t>dati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causa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di </a:t>
            </a:r>
            <a:r>
              <a:rPr lang="en-US" dirty="0" err="1"/>
              <a:t>modellazione</a:t>
            </a:r>
            <a:r>
              <a:rPr lang="en-US" dirty="0"/>
              <a:t> (</a:t>
            </a:r>
            <a:r>
              <a:rPr lang="en-US" dirty="0" err="1"/>
              <a:t>niente</a:t>
            </a:r>
            <a:r>
              <a:rPr lang="en-US" dirty="0"/>
              <a:t> </a:t>
            </a:r>
            <a:r>
              <a:rPr lang="en-US" dirty="0" err="1"/>
              <a:t>normalizzazione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per query), </a:t>
            </a:r>
            <a:r>
              <a:rPr lang="en-US" dirty="0" err="1"/>
              <a:t>il</a:t>
            </a:r>
            <a:r>
              <a:rPr lang="en-US" dirty="0"/>
              <a:t> database </a:t>
            </a:r>
            <a:r>
              <a:rPr lang="en-US" dirty="0" err="1"/>
              <a:t>conterrà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lang="en-US" dirty="0"/>
          </a:p>
          <a:p>
            <a:pPr lvl="1"/>
            <a:r>
              <a:rPr lang="en-US" dirty="0"/>
              <a:t>Da non </a:t>
            </a:r>
            <a:r>
              <a:rPr lang="en-US" dirty="0" err="1"/>
              <a:t>confondere</a:t>
            </a:r>
            <a:r>
              <a:rPr lang="en-US" dirty="0"/>
              <a:t> col </a:t>
            </a:r>
            <a:r>
              <a:rPr lang="en-US" dirty="0" err="1"/>
              <a:t>meccanismo</a:t>
            </a:r>
            <a:r>
              <a:rPr lang="en-US" dirty="0"/>
              <a:t> di replication </a:t>
            </a:r>
          </a:p>
          <a:p>
            <a:pPr lvl="1"/>
            <a:r>
              <a:rPr lang="en-US" dirty="0" err="1"/>
              <a:t>Esempio</a:t>
            </a:r>
            <a:r>
              <a:rPr lang="en-US" dirty="0"/>
              <a:t>: dataset da 10TB, </a:t>
            </a:r>
            <a:r>
              <a:rPr lang="en-US" dirty="0" err="1"/>
              <a:t>ridondanza</a:t>
            </a:r>
            <a:r>
              <a:rPr lang="en-US" dirty="0"/>
              <a:t> 10x, </a:t>
            </a:r>
            <a:r>
              <a:rPr lang="en-US" dirty="0" err="1"/>
              <a:t>replicazione</a:t>
            </a:r>
            <a:r>
              <a:rPr lang="en-US" dirty="0"/>
              <a:t> 5x; </a:t>
            </a:r>
            <a:r>
              <a:rPr lang="en-US" dirty="0" err="1"/>
              <a:t>totale</a:t>
            </a:r>
            <a:r>
              <a:rPr lang="en-US" dirty="0"/>
              <a:t> 500TB</a:t>
            </a:r>
          </a:p>
          <a:p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fattori</a:t>
            </a:r>
            <a:r>
              <a:rPr lang="en-US" dirty="0"/>
              <a:t> di </a:t>
            </a:r>
            <a:r>
              <a:rPr lang="en-US" dirty="0" err="1"/>
              <a:t>ridondanza</a:t>
            </a:r>
            <a:r>
              <a:rPr lang="en-US" dirty="0"/>
              <a:t> non </a:t>
            </a:r>
            <a:r>
              <a:rPr lang="en-US" dirty="0" err="1"/>
              <a:t>costanti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(e.g., n, n</a:t>
            </a:r>
            <a:r>
              <a:rPr lang="en-US" baseline="30000" dirty="0"/>
              <a:t>2</a:t>
            </a:r>
            <a:r>
              <a:rPr lang="en-US" dirty="0"/>
              <a:t>, 2</a:t>
            </a:r>
            <a:r>
              <a:rPr lang="en-US" baseline="30000" dirty="0"/>
              <a:t>n</a:t>
            </a:r>
            <a:r>
              <a:rPr lang="en-US" dirty="0"/>
              <a:t>, </a:t>
            </a:r>
            <a:r>
              <a:rPr lang="en-US" dirty="0" err="1"/>
              <a:t>ecc</a:t>
            </a:r>
            <a:r>
              <a:rPr lang="en-US" dirty="0"/>
              <a:t>.)</a:t>
            </a:r>
          </a:p>
          <a:p>
            <a:pPr lvl="1"/>
            <a:r>
              <a:rPr lang="en-US" dirty="0" err="1"/>
              <a:t>Quanti</a:t>
            </a:r>
            <a:r>
              <a:rPr lang="en-US" dirty="0"/>
              <a:t> tag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avere</a:t>
            </a:r>
            <a:r>
              <a:rPr lang="en-US" dirty="0"/>
              <a:t> un video?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caso</a:t>
            </a:r>
            <a:r>
              <a:rPr lang="en-US" dirty="0"/>
              <a:t> di </a:t>
            </a:r>
            <a:r>
              <a:rPr lang="en-US" dirty="0" err="1"/>
              <a:t>ridondanza</a:t>
            </a:r>
            <a:r>
              <a:rPr lang="en-US" dirty="0"/>
              <a:t> non </a:t>
            </a:r>
            <a:r>
              <a:rPr lang="en-US" dirty="0" err="1"/>
              <a:t>costante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rivedere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d'uso</a:t>
            </a:r>
            <a:r>
              <a:rPr lang="en-US" dirty="0"/>
              <a:t> o </a:t>
            </a:r>
            <a:r>
              <a:rPr lang="en-US" dirty="0" err="1"/>
              <a:t>imporre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limiti</a:t>
            </a:r>
            <a:endParaRPr lang="en-US" dirty="0"/>
          </a:p>
          <a:p>
            <a:r>
              <a:rPr lang="en-US" dirty="0"/>
              <a:t>Non </a:t>
            </a:r>
            <a:r>
              <a:rPr lang="en-US" dirty="0" err="1"/>
              <a:t>dimenticare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consistenza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400" y="3313005"/>
            <a:ext cx="2651008" cy="210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67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Consistenza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/>
              <a:t>dati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consistenza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gestita</a:t>
            </a:r>
            <a:r>
              <a:rPr lang="en-US" dirty="0"/>
              <a:t> a </a:t>
            </a:r>
            <a:r>
              <a:rPr lang="en-US" dirty="0" err="1"/>
              <a:t>livello</a:t>
            </a:r>
            <a:r>
              <a:rPr lang="en-US" dirty="0"/>
              <a:t> di </a:t>
            </a:r>
            <a:r>
              <a:rPr lang="en-US" dirty="0" err="1"/>
              <a:t>applicazione</a:t>
            </a:r>
            <a:endParaRPr lang="en-US" dirty="0"/>
          </a:p>
          <a:p>
            <a:pPr lvl="1"/>
            <a:r>
              <a:rPr lang="en-US" dirty="0"/>
              <a:t>Una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comportare</a:t>
            </a:r>
            <a:r>
              <a:rPr lang="en-US" dirty="0"/>
              <a:t> </a:t>
            </a:r>
            <a:r>
              <a:rPr lang="en-US" dirty="0" err="1"/>
              <a:t>l'esecuzione</a:t>
            </a:r>
            <a:r>
              <a:rPr lang="en-US" dirty="0"/>
              <a:t> di </a:t>
            </a:r>
            <a:r>
              <a:rPr lang="en-US" dirty="0" err="1"/>
              <a:t>tante</a:t>
            </a:r>
            <a:r>
              <a:rPr lang="en-US" dirty="0"/>
              <a:t> INSERT/UPDATE/DELETE</a:t>
            </a:r>
          </a:p>
          <a:p>
            <a:r>
              <a:rPr lang="en-US" dirty="0"/>
              <a:t>Cassandra </a:t>
            </a:r>
            <a:r>
              <a:rPr lang="en-US" dirty="0" err="1"/>
              <a:t>fornisce</a:t>
            </a:r>
            <a:r>
              <a:rPr lang="en-US" dirty="0"/>
              <a:t> un </a:t>
            </a:r>
            <a:r>
              <a:rPr lang="en-US" dirty="0" err="1"/>
              <a:t>meccanismo</a:t>
            </a:r>
            <a:r>
              <a:rPr lang="en-US" dirty="0"/>
              <a:t> di </a:t>
            </a:r>
            <a:r>
              <a:rPr lang="en-US" dirty="0" err="1"/>
              <a:t>esecuzione</a:t>
            </a:r>
            <a:r>
              <a:rPr lang="en-US" dirty="0"/>
              <a:t>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Garantisce</a:t>
            </a:r>
            <a:r>
              <a:rPr lang="en-US" dirty="0"/>
              <a:t> </a:t>
            </a:r>
            <a:r>
              <a:rPr lang="en-US" dirty="0" err="1"/>
              <a:t>l'atomicità</a:t>
            </a:r>
            <a:r>
              <a:rPr lang="en-US" dirty="0"/>
              <a:t> </a:t>
            </a:r>
            <a:r>
              <a:rPr lang="en-US" dirty="0" err="1"/>
              <a:t>dell'operazione</a:t>
            </a:r>
            <a:endParaRPr lang="en-US" dirty="0"/>
          </a:p>
          <a:p>
            <a:pPr lvl="1"/>
            <a:r>
              <a:rPr lang="en-US" dirty="0"/>
              <a:t>Non </a:t>
            </a:r>
            <a:r>
              <a:rPr lang="en-US" dirty="0" err="1"/>
              <a:t>prevede</a:t>
            </a:r>
            <a:r>
              <a:rPr lang="en-US" dirty="0"/>
              <a:t> rollback</a:t>
            </a:r>
          </a:p>
          <a:p>
            <a:pPr lvl="1"/>
            <a:r>
              <a:rPr lang="en-US" dirty="0"/>
              <a:t>Non </a:t>
            </a:r>
            <a:r>
              <a:rPr lang="en-US" dirty="0" err="1"/>
              <a:t>garantisce</a:t>
            </a:r>
            <a:r>
              <a:rPr lang="en-US" dirty="0"/>
              <a:t> isolation </a:t>
            </a:r>
            <a:r>
              <a:rPr lang="en-US" dirty="0" err="1"/>
              <a:t>rispetto</a:t>
            </a:r>
            <a:r>
              <a:rPr lang="en-US" dirty="0"/>
              <a:t> a </a:t>
            </a:r>
            <a:r>
              <a:rPr lang="en-US" dirty="0" err="1"/>
              <a:t>letture</a:t>
            </a:r>
            <a:r>
              <a:rPr lang="en-US" dirty="0"/>
              <a:t> e </a:t>
            </a:r>
            <a:r>
              <a:rPr lang="en-US" dirty="0" err="1"/>
              <a:t>scritture</a:t>
            </a:r>
            <a:r>
              <a:rPr lang="en-US" dirty="0"/>
              <a:t> </a:t>
            </a:r>
            <a:r>
              <a:rPr lang="en-US" dirty="0" err="1"/>
              <a:t>concorrenti</a:t>
            </a:r>
            <a:endParaRPr lang="en-US" dirty="0"/>
          </a:p>
          <a:p>
            <a:pPr lvl="1"/>
            <a:r>
              <a:rPr lang="en-US" dirty="0"/>
              <a:t>Non </a:t>
            </a:r>
            <a:r>
              <a:rPr lang="en-US" dirty="0" err="1"/>
              <a:t>ottimizza</a:t>
            </a:r>
            <a:r>
              <a:rPr lang="en-US" dirty="0"/>
              <a:t> le performance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3032717"/>
            <a:ext cx="78566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BEGIN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BATCH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UPDATE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 err="1">
                <a:solidFill>
                  <a:srgbClr val="DD1144"/>
                </a:solidFill>
                <a:latin typeface="inherit"/>
              </a:rPr>
              <a:t>Jaws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INSERT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INTO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...) </a:t>
            </a:r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VALUES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 err="1">
                <a:solidFill>
                  <a:srgbClr val="DD1144"/>
                </a:solidFill>
                <a:latin typeface="inherit"/>
              </a:rPr>
              <a:t>Jaws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it-IT" sz="14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DELETE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 err="1">
                <a:solidFill>
                  <a:srgbClr val="DD1144"/>
                </a:solidFill>
                <a:latin typeface="inherit"/>
              </a:rPr>
              <a:t>Jaw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APPLY BATCH;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27738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CQL non </a:t>
            </a:r>
            <a:r>
              <a:rPr lang="en-US" dirty="0" err="1"/>
              <a:t>supporta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join</a:t>
            </a:r>
          </a:p>
          <a:p>
            <a:pPr lvl="1"/>
            <a:r>
              <a:rPr lang="en-US" dirty="0" err="1"/>
              <a:t>Materializzare</a:t>
            </a:r>
            <a:r>
              <a:rPr lang="en-US" dirty="0"/>
              <a:t> </a:t>
            </a:r>
            <a:r>
              <a:rPr lang="en-US" dirty="0" err="1"/>
              <a:t>ogni</a:t>
            </a:r>
            <a:r>
              <a:rPr lang="en-US" dirty="0"/>
              <a:t> query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comporta</a:t>
            </a:r>
            <a:r>
              <a:rPr lang="en-US" dirty="0"/>
              <a:t> </a:t>
            </a:r>
            <a:r>
              <a:rPr lang="en-US" dirty="0" err="1"/>
              <a:t>costi</a:t>
            </a:r>
            <a:r>
              <a:rPr lang="en-US" dirty="0"/>
              <a:t> </a:t>
            </a:r>
            <a:r>
              <a:rPr lang="en-US" dirty="0" err="1"/>
              <a:t>legati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 </a:t>
            </a:r>
            <a:r>
              <a:rPr lang="en-US" dirty="0" err="1"/>
              <a:t>ridondanza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lang="en-US" dirty="0"/>
          </a:p>
          <a:p>
            <a:pPr lvl="1"/>
            <a:r>
              <a:rPr lang="en-US" dirty="0"/>
              <a:t>Una </a:t>
            </a:r>
            <a:r>
              <a:rPr lang="en-US" dirty="0" err="1"/>
              <a:t>soluzione</a:t>
            </a:r>
            <a:r>
              <a:rPr lang="en-US" dirty="0"/>
              <a:t> è </a:t>
            </a:r>
            <a:r>
              <a:rPr lang="en-US" dirty="0" err="1"/>
              <a:t>quella</a:t>
            </a:r>
            <a:r>
              <a:rPr lang="en-US" dirty="0"/>
              <a:t> di </a:t>
            </a:r>
            <a:r>
              <a:rPr lang="en-US" dirty="0" err="1"/>
              <a:t>ristrutturare</a:t>
            </a:r>
            <a:r>
              <a:rPr lang="en-US" dirty="0"/>
              <a:t> le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query come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semplici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verso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principale</a:t>
            </a:r>
            <a:endParaRPr lang="en-US" dirty="0"/>
          </a:p>
          <a:p>
            <a:pPr lvl="1"/>
            <a:r>
              <a:rPr lang="en-US" dirty="0"/>
              <a:t>Il join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però</a:t>
            </a:r>
            <a:r>
              <a:rPr lang="en-US" dirty="0"/>
              <a:t> </a:t>
            </a:r>
            <a:r>
              <a:rPr lang="en-US" dirty="0" err="1"/>
              <a:t>gestito</a:t>
            </a:r>
            <a:r>
              <a:rPr lang="en-US" dirty="0"/>
              <a:t> a </a:t>
            </a:r>
            <a:r>
              <a:rPr lang="en-US" dirty="0" err="1"/>
              <a:t>livello</a:t>
            </a:r>
            <a:r>
              <a:rPr lang="en-US" dirty="0"/>
              <a:t> di </a:t>
            </a:r>
            <a:r>
              <a:rPr lang="en-US" dirty="0" err="1"/>
              <a:t>applicazione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6" y="3742862"/>
            <a:ext cx="7586405" cy="231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19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Aggregazioni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Cassandra non </a:t>
            </a:r>
            <a:r>
              <a:rPr lang="en-US" dirty="0" err="1"/>
              <a:t>supporta</a:t>
            </a:r>
            <a:r>
              <a:rPr lang="en-US" dirty="0"/>
              <a:t> GROUP BY</a:t>
            </a:r>
          </a:p>
          <a:p>
            <a:pPr lvl="1"/>
            <a:r>
              <a:rPr lang="en-US" dirty="0" err="1"/>
              <a:t>Unico</a:t>
            </a:r>
            <a:r>
              <a:rPr lang="en-US" dirty="0"/>
              <a:t> </a:t>
            </a:r>
            <a:r>
              <a:rPr lang="en-US" dirty="0" err="1"/>
              <a:t>raggruppamento</a:t>
            </a:r>
            <a:r>
              <a:rPr lang="en-US" dirty="0"/>
              <a:t> </a:t>
            </a:r>
            <a:r>
              <a:rPr lang="en-US" dirty="0" err="1"/>
              <a:t>supportato</a:t>
            </a:r>
            <a:r>
              <a:rPr lang="en-US" dirty="0"/>
              <a:t>: COUNT(*)</a:t>
            </a:r>
          </a:p>
          <a:p>
            <a:r>
              <a:rPr lang="en-US" dirty="0"/>
              <a:t>Come fare </a:t>
            </a:r>
            <a:r>
              <a:rPr lang="en-US" dirty="0" err="1"/>
              <a:t>aggregazioni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aggregati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 </a:t>
            </a:r>
            <a:r>
              <a:rPr lang="en-US" dirty="0" err="1"/>
              <a:t>aggiornarla</a:t>
            </a:r>
            <a:r>
              <a:rPr lang="en-US" dirty="0"/>
              <a:t> </a:t>
            </a:r>
            <a:r>
              <a:rPr lang="en-US" dirty="0" err="1"/>
              <a:t>continuamente</a:t>
            </a:r>
            <a:endParaRPr lang="en-US" dirty="0"/>
          </a:p>
          <a:p>
            <a:pPr lvl="1"/>
            <a:r>
              <a:rPr lang="en-US" dirty="0" err="1"/>
              <a:t>Sfruttare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dato</a:t>
            </a:r>
            <a:r>
              <a:rPr lang="en-US" dirty="0"/>
              <a:t> counter</a:t>
            </a:r>
          </a:p>
          <a:p>
            <a:pPr lvl="2"/>
            <a:r>
              <a:rPr lang="en-US" dirty="0" err="1"/>
              <a:t>Anche</a:t>
            </a:r>
            <a:r>
              <a:rPr lang="en-US" dirty="0"/>
              <a:t> se non è </a:t>
            </a:r>
            <a:r>
              <a:rPr lang="en-US" dirty="0" err="1"/>
              <a:t>accurato</a:t>
            </a:r>
            <a:r>
              <a:rPr lang="en-US" dirty="0"/>
              <a:t> al 100%</a:t>
            </a:r>
          </a:p>
          <a:p>
            <a:pPr lvl="1"/>
            <a:r>
              <a:rPr lang="en-US" dirty="0" err="1"/>
              <a:t>Gestire</a:t>
            </a:r>
            <a:r>
              <a:rPr lang="en-US" dirty="0"/>
              <a:t> </a:t>
            </a:r>
            <a:r>
              <a:rPr lang="en-US" dirty="0" err="1"/>
              <a:t>l'aggregazione</a:t>
            </a:r>
            <a:r>
              <a:rPr lang="en-US" dirty="0"/>
              <a:t> a </a:t>
            </a:r>
            <a:r>
              <a:rPr lang="en-US" dirty="0" err="1"/>
              <a:t>livello</a:t>
            </a:r>
            <a:r>
              <a:rPr lang="en-US" dirty="0"/>
              <a:t> di </a:t>
            </a:r>
            <a:r>
              <a:rPr lang="en-US" dirty="0" err="1"/>
              <a:t>applicazione</a:t>
            </a:r>
            <a:endParaRPr lang="en-US" dirty="0"/>
          </a:p>
          <a:p>
            <a:pPr lvl="1"/>
            <a:r>
              <a:rPr lang="en-US" dirty="0" err="1"/>
              <a:t>Sfruttare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</a:t>
            </a:r>
            <a:r>
              <a:rPr lang="en-US" dirty="0" err="1"/>
              <a:t>strumenti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permettono</a:t>
            </a:r>
            <a:r>
              <a:rPr lang="en-US" dirty="0"/>
              <a:t> di </a:t>
            </a:r>
            <a:r>
              <a:rPr lang="en-US" dirty="0" err="1"/>
              <a:t>effettuare</a:t>
            </a:r>
            <a:r>
              <a:rPr lang="en-US" dirty="0"/>
              <a:t> </a:t>
            </a:r>
            <a:r>
              <a:rPr lang="en-US" dirty="0" err="1"/>
              <a:t>aggregazioni</a:t>
            </a:r>
            <a:r>
              <a:rPr lang="en-US" dirty="0"/>
              <a:t> 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interfacciano</a:t>
            </a:r>
            <a:r>
              <a:rPr lang="en-US" dirty="0"/>
              <a:t> con Cassandra (e.g., Apache Spark)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13" y="2907531"/>
            <a:ext cx="2352347" cy="108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57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Transazioni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Cassandra non </a:t>
            </a:r>
            <a:r>
              <a:rPr lang="en-US" dirty="0" err="1"/>
              <a:t>supporta</a:t>
            </a:r>
            <a:r>
              <a:rPr lang="en-US" dirty="0"/>
              <a:t> </a:t>
            </a:r>
            <a:r>
              <a:rPr lang="en-US" dirty="0" err="1"/>
              <a:t>transazioni</a:t>
            </a:r>
            <a:r>
              <a:rPr lang="en-US" dirty="0"/>
              <a:t> ACID…</a:t>
            </a:r>
          </a:p>
          <a:p>
            <a:pPr lvl="1"/>
            <a:r>
              <a:rPr lang="en-US" dirty="0"/>
              <a:t>Atomicity, Consistency, Isolation, Durability</a:t>
            </a:r>
          </a:p>
          <a:p>
            <a:r>
              <a:rPr lang="en-US"/>
              <a:t>… ma </a:t>
            </a:r>
            <a:r>
              <a:rPr lang="en-US" dirty="0" err="1"/>
              <a:t>fornisce</a:t>
            </a:r>
            <a:r>
              <a:rPr lang="en-US" dirty="0"/>
              <a:t> </a:t>
            </a:r>
            <a:r>
              <a:rPr lang="en-US" dirty="0" err="1"/>
              <a:t>costrutti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supportano</a:t>
            </a:r>
            <a:r>
              <a:rPr lang="en-US" dirty="0"/>
              <a:t> </a:t>
            </a:r>
            <a:r>
              <a:rPr lang="en-US" b="1" dirty="0" err="1"/>
              <a:t>parzialmente</a:t>
            </a:r>
            <a:r>
              <a:rPr lang="en-US" dirty="0"/>
              <a:t>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proprietà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Contatori</a:t>
            </a:r>
            <a:endParaRPr lang="en-US" dirty="0"/>
          </a:p>
          <a:p>
            <a:pPr lvl="2"/>
            <a:r>
              <a:rPr lang="en-US" dirty="0" err="1"/>
              <a:t>Leggono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 prima di </a:t>
            </a:r>
            <a:r>
              <a:rPr lang="en-US" dirty="0" err="1"/>
              <a:t>incrementarlo</a:t>
            </a:r>
            <a:r>
              <a:rPr lang="en-US" dirty="0"/>
              <a:t>/</a:t>
            </a:r>
            <a:r>
              <a:rPr lang="en-US" dirty="0" err="1"/>
              <a:t>decrementarlo</a:t>
            </a:r>
            <a:endParaRPr lang="en-US" dirty="0"/>
          </a:p>
          <a:p>
            <a:pPr lvl="1"/>
            <a:r>
              <a:rPr lang="en-US" dirty="0" err="1"/>
              <a:t>Esecuzioni</a:t>
            </a:r>
            <a:r>
              <a:rPr lang="en-US" dirty="0"/>
              <a:t> batch</a:t>
            </a:r>
          </a:p>
          <a:p>
            <a:pPr lvl="2"/>
            <a:r>
              <a:rPr lang="en-US" dirty="0" err="1"/>
              <a:t>Garantiscono</a:t>
            </a:r>
            <a:r>
              <a:rPr lang="en-US" dirty="0"/>
              <a:t> </a:t>
            </a:r>
            <a:r>
              <a:rPr lang="en-US" dirty="0" err="1"/>
              <a:t>l'atomicità</a:t>
            </a:r>
            <a:r>
              <a:rPr lang="en-US" dirty="0"/>
              <a:t> di un </a:t>
            </a:r>
            <a:r>
              <a:rPr lang="en-US" dirty="0" err="1"/>
              <a:t>insieme</a:t>
            </a:r>
            <a:r>
              <a:rPr lang="en-US" dirty="0"/>
              <a:t> di </a:t>
            </a:r>
            <a:r>
              <a:rPr lang="en-US" dirty="0" err="1"/>
              <a:t>istruzioni</a:t>
            </a:r>
            <a:endParaRPr lang="en-US" dirty="0"/>
          </a:p>
          <a:p>
            <a:pPr lvl="1"/>
            <a:r>
              <a:rPr lang="en-US" dirty="0"/>
              <a:t>INSERT INTO ... IF NOT EXISTS;</a:t>
            </a:r>
          </a:p>
          <a:p>
            <a:pPr lvl="2"/>
            <a:r>
              <a:rPr lang="en-US" dirty="0"/>
              <a:t>Evita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venga</a:t>
            </a:r>
            <a:r>
              <a:rPr lang="en-US" dirty="0"/>
              <a:t> </a:t>
            </a:r>
            <a:r>
              <a:rPr lang="en-US" dirty="0" err="1"/>
              <a:t>effettuato</a:t>
            </a:r>
            <a:r>
              <a:rPr lang="en-US" dirty="0"/>
              <a:t> un update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esista</a:t>
            </a:r>
            <a:r>
              <a:rPr lang="en-US" dirty="0"/>
              <a:t> </a:t>
            </a:r>
            <a:r>
              <a:rPr lang="en-US" dirty="0" err="1"/>
              <a:t>già</a:t>
            </a:r>
            <a:endParaRPr lang="en-US" dirty="0"/>
          </a:p>
          <a:p>
            <a:pPr lvl="1"/>
            <a:r>
              <a:rPr lang="en-US" dirty="0"/>
              <a:t>UPDATE ... IF ...;</a:t>
            </a:r>
          </a:p>
          <a:p>
            <a:pPr lvl="2"/>
            <a:r>
              <a:rPr lang="en-US" dirty="0"/>
              <a:t>Simile al counter: </a:t>
            </a:r>
            <a:r>
              <a:rPr lang="en-US" dirty="0" err="1"/>
              <a:t>verifica</a:t>
            </a:r>
            <a:r>
              <a:rPr lang="en-US" dirty="0"/>
              <a:t> un </a:t>
            </a:r>
            <a:r>
              <a:rPr lang="en-US" dirty="0" err="1"/>
              <a:t>valore</a:t>
            </a:r>
            <a:r>
              <a:rPr lang="en-US" dirty="0"/>
              <a:t> prima di fare </a:t>
            </a:r>
            <a:r>
              <a:rPr lang="en-US" dirty="0" err="1"/>
              <a:t>l'update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Rettangolo 4"/>
          <p:cNvSpPr/>
          <p:nvPr/>
        </p:nvSpPr>
        <p:spPr>
          <a:xfrm>
            <a:off x="5717829" y="4807916"/>
            <a:ext cx="30113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400" b="1">
                <a:solidFill>
                  <a:srgbClr val="445588"/>
                </a:solidFill>
                <a:latin typeface="Courier New" panose="02070309020205020404" pitchFamily="49" charset="0"/>
              </a:rPr>
              <a:t>UPDATE</a:t>
            </a:r>
            <a:r>
              <a:rPr lang="it-IT" sz="1400">
                <a:solidFill>
                  <a:srgbClr val="374C51"/>
                </a:solidFill>
                <a:latin typeface="Courier New" panose="02070309020205020404" pitchFamily="49" charset="0"/>
              </a:rPr>
              <a:t> users </a:t>
            </a:r>
          </a:p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reset_token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 err="1">
                <a:solidFill>
                  <a:srgbClr val="008080"/>
                </a:solidFill>
                <a:latin typeface="Courier New" panose="02070309020205020404" pitchFamily="49" charset="0"/>
              </a:rPr>
              <a:t>null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password = 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'trustno1'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 err="1">
                <a:solidFill>
                  <a:srgbClr val="DD1144"/>
                </a:solidFill>
                <a:latin typeface="inherit"/>
              </a:rPr>
              <a:t>tlberglund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it-IT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IF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reset_token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it-IT" sz="1400" dirty="0">
                <a:solidFill>
                  <a:srgbClr val="009999"/>
                </a:solidFill>
                <a:latin typeface="Courier New" panose="02070309020205020404" pitchFamily="49" charset="0"/>
              </a:rPr>
              <a:t>12345678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970533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/>
              <a:t> finale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Aprire</a:t>
            </a:r>
            <a:r>
              <a:rPr lang="en-US" dirty="0"/>
              <a:t> lo script /root/</a:t>
            </a:r>
            <a:r>
              <a:rPr lang="en-US" dirty="0" err="1"/>
              <a:t>labwork</a:t>
            </a:r>
            <a:r>
              <a:rPr lang="en-US" dirty="0"/>
              <a:t>/exercise-16/</a:t>
            </a:r>
            <a:r>
              <a:rPr lang="en-US" dirty="0" err="1"/>
              <a:t>killrvideo.cql</a:t>
            </a:r>
            <a:endParaRPr lang="en-US" dirty="0"/>
          </a:p>
          <a:p>
            <a:pPr lvl="1"/>
            <a:r>
              <a:rPr lang="en-US" dirty="0"/>
              <a:t>Nelle prime 4 </a:t>
            </a:r>
            <a:r>
              <a:rPr lang="en-US" dirty="0" err="1"/>
              <a:t>tabelle</a:t>
            </a:r>
            <a:r>
              <a:rPr lang="en-US" dirty="0"/>
              <a:t>,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corretto</a:t>
            </a:r>
            <a:r>
              <a:rPr lang="en-US" dirty="0"/>
              <a:t> al </a:t>
            </a:r>
            <a:r>
              <a:rPr lang="en-US" dirty="0" err="1"/>
              <a:t>posto</a:t>
            </a:r>
            <a:r>
              <a:rPr lang="en-US" dirty="0"/>
              <a:t> di "CQL TYPE"</a:t>
            </a:r>
          </a:p>
          <a:p>
            <a:pPr lvl="1"/>
            <a:r>
              <a:rPr lang="en-US" dirty="0" err="1"/>
              <a:t>Eseguire</a:t>
            </a:r>
            <a:r>
              <a:rPr lang="en-US" dirty="0"/>
              <a:t> lo script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Popolare</a:t>
            </a:r>
            <a:r>
              <a:rPr lang="en-US" dirty="0"/>
              <a:t> le </a:t>
            </a:r>
            <a:r>
              <a:rPr lang="en-US" dirty="0" err="1"/>
              <a:t>tabelle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258700" y="2837467"/>
            <a:ext cx="88165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SOURCE 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/exercise-16/</a:t>
            </a:r>
            <a:r>
              <a:rPr lang="it-IT" sz="1400" dirty="0" err="1">
                <a:solidFill>
                  <a:srgbClr val="DD1144"/>
                </a:solidFill>
                <a:latin typeface="inherit"/>
              </a:rPr>
              <a:t>killrvideo.cql</a:t>
            </a:r>
            <a:r>
              <a:rPr lang="it-IT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it-IT" sz="28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</a:rPr>
              <a:t>USE</a:t>
            </a:r>
            <a:r>
              <a:rPr lang="en-US" sz="1400" dirty="0"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killr_video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videos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/exercise-16/ videos.csv'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 </a:t>
            </a:r>
          </a:p>
          <a:p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	</a:t>
            </a:r>
            <a:r>
              <a:rPr lang="en-US" sz="1400" dirty="0">
                <a:latin typeface="Courier New" panose="02070309020205020404" pitchFamily="49" charset="0"/>
              </a:rPr>
              <a:t>AND MINBATCHSIZE=1 AND MAXBATCHSIZE=1 AND PAGESIZE=10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latest_videos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/exercise-16/ latest_videos.csv'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trailers_by_video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/exercise-16/ trailers_by_video.csv'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actors_by_video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/exercise-16/ actors_by_video.csv 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39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/>
              <a:t> finale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it-IT" dirty="0"/>
              <a:t>Query: visualizzare i 50 video più recenti dalla tabella </a:t>
            </a:r>
            <a:r>
              <a:rPr lang="it-IT" dirty="0" err="1"/>
              <a:t>latest_videos</a:t>
            </a:r>
            <a:endParaRPr lang="it-IT" dirty="0"/>
          </a:p>
          <a:p>
            <a:pPr lvl="2"/>
            <a:r>
              <a:rPr lang="it-IT" dirty="0"/>
              <a:t>Cercare l'ID del film "</a:t>
            </a:r>
            <a:r>
              <a:rPr lang="it-IT" dirty="0" err="1"/>
              <a:t>Gone</a:t>
            </a:r>
            <a:r>
              <a:rPr lang="it-IT" dirty="0"/>
              <a:t> Girl" ("L'amore bugiardo")</a:t>
            </a:r>
          </a:p>
          <a:p>
            <a:pPr lvl="1"/>
            <a:r>
              <a:rPr lang="it-IT" dirty="0"/>
              <a:t>Query: visualizzare i dati del film dalla tabella </a:t>
            </a:r>
            <a:r>
              <a:rPr lang="it-IT" dirty="0" err="1"/>
              <a:t>videos</a:t>
            </a:r>
            <a:endParaRPr lang="it-IT" dirty="0"/>
          </a:p>
          <a:p>
            <a:pPr lvl="2"/>
            <a:r>
              <a:rPr lang="it-IT" dirty="0"/>
              <a:t>Quando è stato rilasciato il film? A quali generi appartiene?</a:t>
            </a:r>
          </a:p>
          <a:p>
            <a:pPr lvl="1"/>
            <a:r>
              <a:rPr lang="it-IT" dirty="0"/>
              <a:t>Query: visualizzare gli attori coinvolti nel film e i personaggi da loro interpretati dalla tabella </a:t>
            </a:r>
            <a:r>
              <a:rPr lang="it-IT" dirty="0" err="1"/>
              <a:t>actors_by_video</a:t>
            </a:r>
            <a:endParaRPr lang="it-IT" dirty="0"/>
          </a:p>
          <a:p>
            <a:pPr lvl="2"/>
            <a:r>
              <a:rPr lang="it-IT" dirty="0"/>
              <a:t>Quale attore ha interpretato il personaggio Desi </a:t>
            </a:r>
            <a:r>
              <a:rPr lang="it-IT" dirty="0" err="1"/>
              <a:t>Collings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Query: cercare il trailer del film dalla tabella </a:t>
            </a:r>
            <a:r>
              <a:rPr lang="it-IT" dirty="0" err="1"/>
              <a:t>trailers_by_video</a:t>
            </a:r>
            <a:endParaRPr lang="it-IT" dirty="0"/>
          </a:p>
          <a:p>
            <a:pPr lvl="2"/>
            <a:r>
              <a:rPr lang="it-IT" dirty="0"/>
              <a:t>Il </a:t>
            </a:r>
            <a:r>
              <a:rPr lang="it-IT" dirty="0" err="1"/>
              <a:t>trailer_id</a:t>
            </a:r>
            <a:r>
              <a:rPr lang="it-IT" dirty="0"/>
              <a:t> è un ID che riconduce alla tabella </a:t>
            </a:r>
            <a:r>
              <a:rPr lang="it-IT" dirty="0" err="1"/>
              <a:t>videos</a:t>
            </a:r>
            <a:endParaRPr lang="it-IT" dirty="0"/>
          </a:p>
          <a:p>
            <a:pPr lvl="1"/>
            <a:r>
              <a:rPr lang="it-IT"/>
              <a:t>Query: visualizzare i dati del trailer dalla tabella </a:t>
            </a:r>
            <a:r>
              <a:rPr lang="it-IT" dirty="0" err="1"/>
              <a:t>videos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19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/>
              <a:t> finale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60" y="2055926"/>
            <a:ext cx="5984331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latest_videos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LIMIT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50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b="1" dirty="0">
              <a:solidFill>
                <a:srgbClr val="445588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8a657435-0ef2-11e5-91b1-8438355b7e3a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actors_by_video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8a657435-0ef2-11e5-91b1-8438355b7e3a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trailers_by_video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8a657435-0ef2-11e5-91b1-8438355b7e3a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videos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8a65751c-0ef2-11e5-9cac-8438355b7e3a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731061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1383</TotalTime>
  <Words>1994</Words>
  <Application>Microsoft Office PowerPoint</Application>
  <PresentationFormat>Presentazione su schermo (4:3)</PresentationFormat>
  <Paragraphs>371</Paragraphs>
  <Slides>44</Slides>
  <Notes>2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inherit</vt:lpstr>
      <vt:lpstr>Retrospettivo</vt:lpstr>
      <vt:lpstr>Apache Cassandra</vt:lpstr>
      <vt:lpstr>Progettazione</vt:lpstr>
      <vt:lpstr>Metodologia</vt:lpstr>
      <vt:lpstr>Modellazione concettuale</vt:lpstr>
      <vt:lpstr>Modello quasi-ER</vt:lpstr>
      <vt:lpstr>Modello quasi-ER</vt:lpstr>
      <vt:lpstr>Video e utenti</vt:lpstr>
      <vt:lpstr>Video, codifiche e attori</vt:lpstr>
      <vt:lpstr>Classificazione dei video</vt:lpstr>
      <vt:lpstr>Application workflow</vt:lpstr>
      <vt:lpstr>Modellazione logica</vt:lpstr>
      <vt:lpstr>Approccio query-driven</vt:lpstr>
      <vt:lpstr>Modello logico</vt:lpstr>
      <vt:lpstr>Regola 1 Entità e relazioni</vt:lpstr>
      <vt:lpstr>Regola 1 Entità e relazioni</vt:lpstr>
      <vt:lpstr>Regola 2  Attributi per ricerche esatte</vt:lpstr>
      <vt:lpstr>Regola 2  Attributi per ricerche esatte</vt:lpstr>
      <vt:lpstr>Regola 2  Attributi per ricerche esatte</vt:lpstr>
      <vt:lpstr>Regola 3  Attributi per ricerche inesatte</vt:lpstr>
      <vt:lpstr>Regola 3  Attributi per ricerche inesatte</vt:lpstr>
      <vt:lpstr>Regola 3  Attributi per ricerche inesatte</vt:lpstr>
      <vt:lpstr>Regola 4  Attributi per ordinamenti</vt:lpstr>
      <vt:lpstr>Regola 4  Attributi per ordinamenti</vt:lpstr>
      <vt:lpstr>Regola 4  Attributi per ordinamenti</vt:lpstr>
      <vt:lpstr>Regola 5 Attributi chiave</vt:lpstr>
      <vt:lpstr>Regola 5 Attributi chiave</vt:lpstr>
      <vt:lpstr>Un esempio completo</vt:lpstr>
      <vt:lpstr>Esercizio 7</vt:lpstr>
      <vt:lpstr>Esercizio 7</vt:lpstr>
      <vt:lpstr>Colonne statiche</vt:lpstr>
      <vt:lpstr>Colonne statiche</vt:lpstr>
      <vt:lpstr>Colonne statiche</vt:lpstr>
      <vt:lpstr>Esercizio 8</vt:lpstr>
      <vt:lpstr>Esercizio 8</vt:lpstr>
      <vt:lpstr>Modellazione fisica</vt:lpstr>
      <vt:lpstr>Dimensione delle partizioni</vt:lpstr>
      <vt:lpstr>Ridondanza dei dati</vt:lpstr>
      <vt:lpstr>Consistenza dei dati</vt:lpstr>
      <vt:lpstr>Join</vt:lpstr>
      <vt:lpstr>Aggregazioni</vt:lpstr>
      <vt:lpstr>Transazioni</vt:lpstr>
      <vt:lpstr>Esercizio finale</vt:lpstr>
      <vt:lpstr>Esercizio finale</vt:lpstr>
      <vt:lpstr>Esercizio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INSIGHT</dc:title>
  <dc:creator>Matteo Francia</dc:creator>
  <cp:lastModifiedBy>Manuele Pasini</cp:lastModifiedBy>
  <cp:revision>709</cp:revision>
  <dcterms:created xsi:type="dcterms:W3CDTF">2014-12-16T10:04:42Z</dcterms:created>
  <dcterms:modified xsi:type="dcterms:W3CDTF">2025-03-06T15:31:24Z</dcterms:modified>
</cp:coreProperties>
</file>